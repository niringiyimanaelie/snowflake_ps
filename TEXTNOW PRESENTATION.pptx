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152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">
  <p:cSld name="Multi-use layou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Google Shape;12;p2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65760" y="873713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2883200" y="2605201"/>
            <a:ext cx="26688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" name="Google Shape;15;p2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365750" y="365764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27956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2-Line Title">
  <p:cSld name="Multi-use layout w/ 2-Line 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Google Shape;20;p3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367900" y="365764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365760" y="1496489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" name="Google Shape;23;p3"/>
          <p:cNvSpPr txBox="1"/>
          <p:nvPr/>
        </p:nvSpPr>
        <p:spPr>
          <a:xfrm>
            <a:off x="2883200" y="2605201"/>
            <a:ext cx="26688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" name="Google Shape;24;p3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0" y="458000"/>
            <a:ext cx="137100" cy="97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489352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Dotted Lines 01">
  <p:cSld name="Multi-use layout w/ Dotted Lines 0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4" y="5015936"/>
            <a:ext cx="9143997" cy="1828752"/>
            <a:chOff x="-10" y="3735321"/>
            <a:chExt cx="9139427" cy="1408177"/>
          </a:xfrm>
        </p:grpSpPr>
        <p:pic>
          <p:nvPicPr>
            <p:cNvPr id="28" name="Google Shape;28;p4"/>
            <p:cNvPicPr preferRelativeResize="0"/>
            <p:nvPr/>
          </p:nvPicPr>
          <p:blipFill rotWithShape="1">
            <a:blip r:embed="rId2">
              <a:alphaModFix amt="29000"/>
            </a:blip>
            <a:srcRect t="139" b="139"/>
            <a:stretch/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"/>
            <p:cNvPicPr preferRelativeResize="0"/>
            <p:nvPr/>
          </p:nvPicPr>
          <p:blipFill rotWithShape="1">
            <a:blip r:embed="rId3">
              <a:alphaModFix amt="29000"/>
            </a:blip>
            <a:srcRect t="139" b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4"/>
            <p:cNvPicPr preferRelativeResize="0"/>
            <p:nvPr/>
          </p:nvPicPr>
          <p:blipFill rotWithShape="1">
            <a:blip r:embed="rId4">
              <a:alphaModFix amt="29000"/>
            </a:blip>
            <a:srcRect t="139" b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Google Shape;32;p4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367900" y="365764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365760" y="873713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" name="Google Shape;35;p4"/>
          <p:cNvSpPr txBox="1"/>
          <p:nvPr/>
        </p:nvSpPr>
        <p:spPr>
          <a:xfrm>
            <a:off x="2883200" y="2605201"/>
            <a:ext cx="26688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6" name="Google Shape;36;p4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625683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Dotted Lines 02">
  <p:cSld name="Multi-use layout w/ Dotted Lines 02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5"/>
          <p:cNvGrpSpPr/>
          <p:nvPr/>
        </p:nvGrpSpPr>
        <p:grpSpPr>
          <a:xfrm>
            <a:off x="1" y="5827435"/>
            <a:ext cx="9144001" cy="1030567"/>
            <a:chOff x="0" y="4370576"/>
            <a:chExt cx="9144001" cy="772925"/>
          </a:xfrm>
        </p:grpSpPr>
        <p:pic>
          <p:nvPicPr>
            <p:cNvPr id="40" name="Google Shape;40;p5"/>
            <p:cNvPicPr preferRelativeResize="0"/>
            <p:nvPr/>
          </p:nvPicPr>
          <p:blipFill rotWithShape="1">
            <a:blip r:embed="rId2">
              <a:alphaModFix amt="29000"/>
            </a:blip>
            <a:srcRect t="140" b="43663"/>
            <a:stretch/>
          </p:blipFill>
          <p:spPr>
            <a:xfrm>
              <a:off x="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5"/>
            <p:cNvPicPr preferRelativeResize="0"/>
            <p:nvPr/>
          </p:nvPicPr>
          <p:blipFill rotWithShape="1">
            <a:blip r:embed="rId3">
              <a:alphaModFix amt="29000"/>
            </a:blip>
            <a:srcRect t="140" b="43663"/>
            <a:stretch/>
          </p:blipFill>
          <p:spPr>
            <a:xfrm>
              <a:off x="305105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 amt="29000"/>
            </a:blip>
            <a:srcRect t="140" b="43663"/>
            <a:stretch/>
          </p:blipFill>
          <p:spPr>
            <a:xfrm>
              <a:off x="6097525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4" name="Google Shape;44;p5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367900" y="365764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365760" y="873713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" name="Google Shape;47;p5"/>
          <p:cNvSpPr txBox="1"/>
          <p:nvPr/>
        </p:nvSpPr>
        <p:spPr>
          <a:xfrm>
            <a:off x="2883200" y="2605201"/>
            <a:ext cx="26688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8" name="Google Shape;48;p5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78999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Dotted Arrows">
  <p:cSld name="Multi-use layout w/ Dotted Arrow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6"/>
          <p:cNvPicPr preferRelativeResize="0"/>
          <p:nvPr/>
        </p:nvPicPr>
        <p:blipFill rotWithShape="1">
          <a:blip r:embed="rId2">
            <a:alphaModFix/>
          </a:blip>
          <a:srcRect l="22839"/>
          <a:stretch/>
        </p:blipFill>
        <p:spPr>
          <a:xfrm flipH="1">
            <a:off x="7782375" y="3914234"/>
            <a:ext cx="1368150" cy="2574964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3" name="Google Shape;53;p6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367900" y="365764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ubTitle" idx="1"/>
          </p:nvPr>
        </p:nvSpPr>
        <p:spPr>
          <a:xfrm>
            <a:off x="365760" y="873713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6" name="Google Shape;56;p6"/>
          <p:cNvSpPr txBox="1"/>
          <p:nvPr/>
        </p:nvSpPr>
        <p:spPr>
          <a:xfrm>
            <a:off x="2883200" y="2605201"/>
            <a:ext cx="26688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7" name="Google Shape;57;p6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403682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Layout">
  <p:cSld name="One Column Layou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>
            <a:spLocks noGrp="1"/>
          </p:cNvSpPr>
          <p:nvPr>
            <p:ph type="body" idx="1"/>
          </p:nvPr>
        </p:nvSpPr>
        <p:spPr>
          <a:xfrm>
            <a:off x="365750" y="1828800"/>
            <a:ext cx="6261300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Google Shape;61;p7"/>
          <p:cNvSpPr txBox="1">
            <a:spLocks noGrp="1"/>
          </p:cNvSpPr>
          <p:nvPr>
            <p:ph type="title"/>
          </p:nvPr>
        </p:nvSpPr>
        <p:spPr>
          <a:xfrm>
            <a:off x="365750" y="365764"/>
            <a:ext cx="8321100" cy="5247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3" name="Google Shape;63;p7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7"/>
          <p:cNvSpPr txBox="1">
            <a:spLocks noGrp="1"/>
          </p:cNvSpPr>
          <p:nvPr>
            <p:ph type="subTitle" idx="2"/>
          </p:nvPr>
        </p:nvSpPr>
        <p:spPr>
          <a:xfrm>
            <a:off x="365760" y="873713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459725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Layout">
  <p:cSld name="Two Column Layou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365750" y="365764"/>
            <a:ext cx="8348400" cy="5247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1"/>
          </p:nvPr>
        </p:nvSpPr>
        <p:spPr>
          <a:xfrm>
            <a:off x="365750" y="1828800"/>
            <a:ext cx="4160400" cy="5031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Google Shape;70;p8"/>
          <p:cNvSpPr txBox="1">
            <a:spLocks noGrp="1"/>
          </p:cNvSpPr>
          <p:nvPr>
            <p:ph type="body" idx="2"/>
          </p:nvPr>
        </p:nvSpPr>
        <p:spPr>
          <a:xfrm>
            <a:off x="4617721" y="1828800"/>
            <a:ext cx="4160400" cy="5031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Google Shape;71;p8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2" name="Google Shape;72;p8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 txBox="1">
            <a:spLocks noGrp="1"/>
          </p:cNvSpPr>
          <p:nvPr>
            <p:ph type="subTitle" idx="3"/>
          </p:nvPr>
        </p:nvSpPr>
        <p:spPr>
          <a:xfrm>
            <a:off x="365760" y="873713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8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299998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Layout">
  <p:cSld name="Three Column Layou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>
            <a:spLocks noGrp="1"/>
          </p:cNvSpPr>
          <p:nvPr>
            <p:ph type="title"/>
          </p:nvPr>
        </p:nvSpPr>
        <p:spPr>
          <a:xfrm>
            <a:off x="365750" y="365760"/>
            <a:ext cx="83577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body" idx="1"/>
          </p:nvPr>
        </p:nvSpPr>
        <p:spPr>
          <a:xfrm>
            <a:off x="365750" y="1828800"/>
            <a:ext cx="2697600" cy="680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Google Shape;79;p9"/>
          <p:cNvSpPr txBox="1">
            <a:spLocks noGrp="1"/>
          </p:cNvSpPr>
          <p:nvPr>
            <p:ph type="body" idx="2"/>
          </p:nvPr>
        </p:nvSpPr>
        <p:spPr>
          <a:xfrm>
            <a:off x="3169031" y="1828800"/>
            <a:ext cx="2697600" cy="680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Google Shape;80;p9"/>
          <p:cNvSpPr txBox="1">
            <a:spLocks noGrp="1"/>
          </p:cNvSpPr>
          <p:nvPr>
            <p:ph type="body" idx="3"/>
          </p:nvPr>
        </p:nvSpPr>
        <p:spPr>
          <a:xfrm>
            <a:off x="6127925" y="1828800"/>
            <a:ext cx="2697600" cy="680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Google Shape;81;p9"/>
          <p:cNvSpPr txBox="1">
            <a:spLocks noGrp="1"/>
          </p:cNvSpPr>
          <p:nvPr>
            <p:ph type="sldNum" idx="12"/>
          </p:nvPr>
        </p:nvSpPr>
        <p:spPr>
          <a:xfrm>
            <a:off x="8229600" y="6517011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2" name="Google Shape;82;p9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9"/>
          <p:cNvSpPr txBox="1">
            <a:spLocks noGrp="1"/>
          </p:cNvSpPr>
          <p:nvPr>
            <p:ph type="subTitle" idx="4"/>
          </p:nvPr>
        </p:nvSpPr>
        <p:spPr>
          <a:xfrm>
            <a:off x="365760" y="873713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" name="Google Shape;85;p9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797449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96">
          <p15:clr>
            <a:srgbClr val="FA7B17"/>
          </p15:clr>
        </p15:guide>
        <p15:guide id="2" pos="1906">
          <p15:clr>
            <a:srgbClr val="FA7B17"/>
          </p15:clr>
        </p15:guide>
        <p15:guide id="3" pos="3758">
          <p15:clr>
            <a:srgbClr val="FA7B17"/>
          </p15:clr>
        </p15:guide>
        <p15:guide id="4" pos="3860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 Layout">
  <p:cSld name="Four Column Layou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/>
          <p:nvPr/>
        </p:nvSpPr>
        <p:spPr>
          <a:xfrm>
            <a:off x="457195" y="6462011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"/>
          <p:cNvSpPr txBox="1">
            <a:spLocks noGrp="1"/>
          </p:cNvSpPr>
          <p:nvPr>
            <p:ph type="sldNum" idx="12"/>
          </p:nvPr>
        </p:nvSpPr>
        <p:spPr>
          <a:xfrm>
            <a:off x="8229600" y="6517011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Google Shape;89;p10"/>
          <p:cNvSpPr txBox="1">
            <a:spLocks noGrp="1"/>
          </p:cNvSpPr>
          <p:nvPr>
            <p:ph type="title"/>
          </p:nvPr>
        </p:nvSpPr>
        <p:spPr>
          <a:xfrm>
            <a:off x="365750" y="365760"/>
            <a:ext cx="83484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10"/>
          <p:cNvSpPr txBox="1">
            <a:spLocks noGrp="1"/>
          </p:cNvSpPr>
          <p:nvPr>
            <p:ph type="body" idx="1"/>
          </p:nvPr>
        </p:nvSpPr>
        <p:spPr>
          <a:xfrm>
            <a:off x="365750" y="1828800"/>
            <a:ext cx="1920300" cy="9279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Google Shape;91;p10"/>
          <p:cNvSpPr txBox="1">
            <a:spLocks noGrp="1"/>
          </p:cNvSpPr>
          <p:nvPr>
            <p:ph type="body" idx="2"/>
          </p:nvPr>
        </p:nvSpPr>
        <p:spPr>
          <a:xfrm>
            <a:off x="2459408" y="1828800"/>
            <a:ext cx="1920300" cy="9279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2" name="Google Shape;92;p10"/>
          <p:cNvSpPr txBox="1">
            <a:spLocks noGrp="1"/>
          </p:cNvSpPr>
          <p:nvPr>
            <p:ph type="body" idx="3"/>
          </p:nvPr>
        </p:nvSpPr>
        <p:spPr>
          <a:xfrm>
            <a:off x="4673192" y="1828800"/>
            <a:ext cx="1920300" cy="9279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Google Shape;93;p10"/>
          <p:cNvSpPr txBox="1">
            <a:spLocks noGrp="1"/>
          </p:cNvSpPr>
          <p:nvPr>
            <p:ph type="body" idx="4"/>
          </p:nvPr>
        </p:nvSpPr>
        <p:spPr>
          <a:xfrm>
            <a:off x="6887000" y="1828800"/>
            <a:ext cx="1920300" cy="9279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4" name="Google Shape;94;p10"/>
          <p:cNvSpPr/>
          <p:nvPr/>
        </p:nvSpPr>
        <p:spPr>
          <a:xfrm>
            <a:off x="660640" y="6489457"/>
            <a:ext cx="14733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0"/>
          <p:cNvSpPr txBox="1">
            <a:spLocks noGrp="1"/>
          </p:cNvSpPr>
          <p:nvPr>
            <p:ph type="subTitle" idx="5"/>
          </p:nvPr>
        </p:nvSpPr>
        <p:spPr>
          <a:xfrm>
            <a:off x="365760" y="873713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0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045770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22">
          <p15:clr>
            <a:srgbClr val="FA7B17"/>
          </p15:clr>
        </p15:guide>
        <p15:guide id="2" pos="4211">
          <p15:clr>
            <a:srgbClr val="FA7B17"/>
          </p15:clr>
        </p15:guide>
        <p15:guide id="3" pos="1549">
          <p15:clr>
            <a:srgbClr val="FA7B17"/>
          </p15:clr>
        </p15:guide>
        <p15:guide id="4" pos="2816">
          <p15:clr>
            <a:srgbClr val="FA7B17"/>
          </p15:clr>
        </p15:guide>
        <p15:guide id="5" pos="2944">
          <p15:clr>
            <a:srgbClr val="FA7B17"/>
          </p15:clr>
        </p15:guide>
        <p15:guide id="6" pos="4338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/>
          <p:nvPr/>
        </p:nvSpPr>
        <p:spPr>
          <a:xfrm>
            <a:off x="2291700" y="0"/>
            <a:ext cx="68523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9" name="Google Shape;99;p11"/>
          <p:cNvSpPr txBox="1">
            <a:spLocks noGrp="1"/>
          </p:cNvSpPr>
          <p:nvPr>
            <p:ph type="body" idx="1"/>
          </p:nvPr>
        </p:nvSpPr>
        <p:spPr>
          <a:xfrm>
            <a:off x="365750" y="365760"/>
            <a:ext cx="1926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 b="1" i="0" cap="none">
                <a:solidFill>
                  <a:schemeClr val="dk1"/>
                </a:solidFill>
              </a:defRPr>
            </a:lvl1pPr>
            <a:lvl2pPr marL="914400" lvl="1" indent="-3429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2pPr>
            <a:lvl3pPr marL="1371600" lvl="2" indent="-3429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1"/>
            </a:lvl3pPr>
            <a:lvl4pPr marL="1828800" lvl="3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4pPr>
            <a:lvl5pPr marL="2286000" lvl="4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5pPr>
            <a:lvl6pPr marL="2743200" lvl="5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6pPr>
            <a:lvl7pPr marL="3200400" lvl="6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7pPr>
            <a:lvl8pPr marL="3657600" lvl="7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8pPr>
            <a:lvl9pPr marL="4114800" lvl="8" indent="-317500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•"/>
              <a:defRPr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Google Shape;100;p11"/>
          <p:cNvSpPr txBox="1">
            <a:spLocks noGrp="1"/>
          </p:cNvSpPr>
          <p:nvPr>
            <p:ph type="sldNum" idx="12"/>
          </p:nvPr>
        </p:nvSpPr>
        <p:spPr>
          <a:xfrm>
            <a:off x="8229600" y="6517011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1" name="Google Shape;101;p11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1"/>
          <p:cNvSpPr txBox="1">
            <a:spLocks noGrp="1"/>
          </p:cNvSpPr>
          <p:nvPr>
            <p:ph type="body" idx="2"/>
          </p:nvPr>
        </p:nvSpPr>
        <p:spPr>
          <a:xfrm>
            <a:off x="2961200" y="1219200"/>
            <a:ext cx="5725500" cy="502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FFFFFF"/>
                </a:solidFill>
              </a:defRPr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" name="Google Shape;104;p11"/>
          <p:cNvSpPr/>
          <p:nvPr/>
        </p:nvSpPr>
        <p:spPr>
          <a:xfrm>
            <a:off x="6369225" y="304800"/>
            <a:ext cx="1322446" cy="1886216"/>
          </a:xfrm>
          <a:custGeom>
            <a:avLst/>
            <a:gdLst/>
            <a:ahLst/>
            <a:cxnLst/>
            <a:rect l="l" t="t" r="r" b="b"/>
            <a:pathLst>
              <a:path w="1950" h="2085" extrusionOk="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2295101" y="3689433"/>
            <a:ext cx="2772174" cy="3162776"/>
          </a:xfrm>
          <a:custGeom>
            <a:avLst/>
            <a:gdLst/>
            <a:ahLst/>
            <a:cxnLst/>
            <a:rect l="l" t="t" r="r" b="b"/>
            <a:pathLst>
              <a:path w="4248542" h="3635375" extrusionOk="0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07" name="Google Shape;107;p11"/>
          <p:cNvPicPr preferRelativeResize="0"/>
          <p:nvPr/>
        </p:nvPicPr>
        <p:blipFill rotWithShape="1">
          <a:blip r:embed="rId2">
            <a:alphaModFix/>
          </a:blip>
          <a:srcRect l="16763"/>
          <a:stretch/>
        </p:blipFill>
        <p:spPr>
          <a:xfrm rot="10800000">
            <a:off x="7338077" y="853333"/>
            <a:ext cx="1805925" cy="31598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6826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Blue Left Bar">
  <p:cSld name="Dark Blue Left Bar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/>
          <p:nvPr/>
        </p:nvSpPr>
        <p:spPr>
          <a:xfrm flipH="1">
            <a:off x="-775" y="0"/>
            <a:ext cx="2743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0" name="Google Shape;110;p12"/>
          <p:cNvSpPr txBox="1">
            <a:spLocks noGrp="1"/>
          </p:cNvSpPr>
          <p:nvPr>
            <p:ph type="body" idx="1"/>
          </p:nvPr>
        </p:nvSpPr>
        <p:spPr>
          <a:xfrm>
            <a:off x="365750" y="365760"/>
            <a:ext cx="2376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 b="1" i="0" cap="none">
                <a:solidFill>
                  <a:srgbClr val="FFFFFF"/>
                </a:solidFill>
              </a:defRPr>
            </a:lvl1pPr>
            <a:lvl2pPr marL="914400" lvl="1" indent="-34290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b="1">
                <a:solidFill>
                  <a:srgbClr val="FFFFFF"/>
                </a:solidFill>
              </a:defRPr>
            </a:lvl2pPr>
            <a:lvl3pPr marL="1371600" lvl="2" indent="-3429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sz="1800" b="1">
                <a:solidFill>
                  <a:srgbClr val="FFFFFF"/>
                </a:solidFill>
              </a:defRPr>
            </a:lvl3pPr>
            <a:lvl4pPr marL="1828800" lvl="3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4pPr>
            <a:lvl5pPr marL="2286000" lvl="4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5pPr>
            <a:lvl6pPr marL="2743200" lvl="5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6pPr>
            <a:lvl7pPr marL="3200400" lvl="6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7pPr>
            <a:lvl8pPr marL="3657600" lvl="7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8pPr>
            <a:lvl9pPr marL="4114800" lvl="8" indent="-317500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1" name="Google Shape;111;p12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2" name="Google Shape;112;p12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FFFFFF"/>
                </a:solidFill>
              </a:rPr>
              <a:t>2025</a:t>
            </a:r>
            <a:r>
              <a:rPr lang="en" sz="6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2"/>
          <p:cNvSpPr txBox="1">
            <a:spLocks noGrp="1"/>
          </p:cNvSpPr>
          <p:nvPr>
            <p:ph type="body" idx="2"/>
          </p:nvPr>
        </p:nvSpPr>
        <p:spPr>
          <a:xfrm>
            <a:off x="365750" y="1722200"/>
            <a:ext cx="2210400" cy="341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2pPr>
            <a:lvl3pPr marL="1371600" lvl="2" indent="-3048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3pPr>
            <a:lvl4pPr marL="1828800" lvl="3" indent="-3048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4pPr>
            <a:lvl5pPr marL="2286000" lvl="4" indent="-3048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5pPr>
            <a:lvl6pPr marL="2743200" lvl="5" indent="-3048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6pPr>
            <a:lvl7pPr marL="3200400" lvl="6" indent="-3048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7pPr>
            <a:lvl8pPr marL="3657600" lvl="7" indent="-3048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8pPr>
            <a:lvl9pPr marL="4114800" lvl="8" indent="-304800" rtl="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5" name="Google Shape;115;p12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137345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Layout">
  <p:cSld name="Split Layou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6024564" y="342900"/>
            <a:ext cx="1488103" cy="2122488"/>
          </a:xfrm>
          <a:custGeom>
            <a:avLst/>
            <a:gdLst/>
            <a:ahLst/>
            <a:cxnLst/>
            <a:rect l="l" t="t" r="r" b="b"/>
            <a:pathLst>
              <a:path w="1950" h="2085" extrusionOk="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4574381" y="3222627"/>
            <a:ext cx="3186406" cy="3635375"/>
          </a:xfrm>
          <a:custGeom>
            <a:avLst/>
            <a:gdLst/>
            <a:ahLst/>
            <a:cxnLst/>
            <a:rect l="l" t="t" r="r" b="b"/>
            <a:pathLst>
              <a:path w="4248542" h="3635375" extrusionOk="0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7184152" y="845800"/>
            <a:ext cx="1959849" cy="3741797"/>
          </a:xfrm>
          <a:custGeom>
            <a:avLst/>
            <a:gdLst/>
            <a:ahLst/>
            <a:cxnLst/>
            <a:rect l="l" t="t" r="r" b="b"/>
            <a:pathLst>
              <a:path w="2613132" h="3741797" extrusionOk="0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6491288" y="3671381"/>
            <a:ext cx="1576390" cy="2248408"/>
          </a:xfrm>
          <a:custGeom>
            <a:avLst/>
            <a:gdLst/>
            <a:ahLst/>
            <a:cxnLst/>
            <a:rect l="l" t="t" r="r" b="b"/>
            <a:pathLst>
              <a:path w="1950" h="2085" extrusionOk="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45880"/>
            </a:srgb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3"/>
          <p:cNvSpPr txBox="1">
            <a:spLocks noGrp="1"/>
          </p:cNvSpPr>
          <p:nvPr>
            <p:ph type="body" idx="1"/>
          </p:nvPr>
        </p:nvSpPr>
        <p:spPr>
          <a:xfrm>
            <a:off x="365750" y="845800"/>
            <a:ext cx="3827400" cy="443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>
                <a:solidFill>
                  <a:srgbClr val="5B5B5B"/>
                </a:solidFill>
              </a:defRPr>
            </a:lvl1pPr>
            <a:lvl2pPr marL="914400" lvl="1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2pPr>
            <a:lvl3pPr marL="1371600" lvl="2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3pPr>
            <a:lvl4pPr marL="1828800" lvl="3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4pPr>
            <a:lvl5pPr marL="2286000" lvl="4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5pPr>
            <a:lvl6pPr marL="2743200" lvl="5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6pPr>
            <a:lvl7pPr marL="3200400" lvl="6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7pPr>
            <a:lvl8pPr marL="3657600" lvl="7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8pPr>
            <a:lvl9pPr marL="4114800" lvl="8" indent="-342900" algn="l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/>
          </p:nvPr>
        </p:nvSpPr>
        <p:spPr>
          <a:xfrm>
            <a:off x="365755" y="365760"/>
            <a:ext cx="3978900" cy="8648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6" name="Google Shape;126;p13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3"/>
          <p:cNvPicPr preferRelativeResize="0"/>
          <p:nvPr/>
        </p:nvPicPr>
        <p:blipFill rotWithShape="1">
          <a:blip r:embed="rId2">
            <a:alphaModFix/>
          </a:blip>
          <a:srcRect l="13584" b="9584"/>
          <a:stretch/>
        </p:blipFill>
        <p:spPr>
          <a:xfrm>
            <a:off x="4572000" y="4285667"/>
            <a:ext cx="1693648" cy="257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3"/>
          <p:cNvSpPr/>
          <p:nvPr/>
        </p:nvSpPr>
        <p:spPr>
          <a:xfrm>
            <a:off x="8067677" y="304802"/>
            <a:ext cx="1077917" cy="2057988"/>
          </a:xfrm>
          <a:custGeom>
            <a:avLst/>
            <a:gdLst/>
            <a:ahLst/>
            <a:cxnLst/>
            <a:rect l="l" t="t" r="r" b="b"/>
            <a:pathLst>
              <a:path w="2613132" h="3741797" extrusionOk="0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3"/>
          <p:cNvSpPr txBox="1">
            <a:spLocks noGrp="1"/>
          </p:cNvSpPr>
          <p:nvPr>
            <p:ph type="body" idx="2"/>
          </p:nvPr>
        </p:nvSpPr>
        <p:spPr>
          <a:xfrm>
            <a:off x="4937760" y="1706867"/>
            <a:ext cx="3566400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 i="0" u="none" strike="noStrike" cap="none">
                <a:solidFill>
                  <a:schemeClr val="lt1"/>
                </a:solidFill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sz="1800" i="0" u="none" strike="noStrike" cap="none">
                <a:solidFill>
                  <a:schemeClr val="lt1"/>
                </a:solidFill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1" name="Google Shape;131;p13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796699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footer only)">
  <p:cSld name="Blank (footer only)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4" name="Google Shape;134;p14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3693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01">
  <p:cSld name="Cover 01">
    <p:bg>
      <p:bgPr>
        <a:solidFill>
          <a:schemeClr val="accent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15"/>
          <p:cNvGrpSpPr/>
          <p:nvPr/>
        </p:nvGrpSpPr>
        <p:grpSpPr>
          <a:xfrm>
            <a:off x="-10" y="5027252"/>
            <a:ext cx="9143997" cy="1828752"/>
            <a:chOff x="-10" y="3735321"/>
            <a:chExt cx="9139427" cy="1408177"/>
          </a:xfrm>
        </p:grpSpPr>
        <p:pic>
          <p:nvPicPr>
            <p:cNvPr id="138" name="Google Shape;138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5"/>
            <p:cNvPicPr preferRelativeResize="0"/>
            <p:nvPr/>
          </p:nvPicPr>
          <p:blipFill rotWithShape="1">
            <a:blip r:embed="rId3">
              <a:alphaModFix/>
            </a:blip>
            <a:srcRect t="139" b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t="139" b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" name="Google Shape;141;p15"/>
          <p:cNvGrpSpPr/>
          <p:nvPr/>
        </p:nvGrpSpPr>
        <p:grpSpPr>
          <a:xfrm>
            <a:off x="-10" y="5027252"/>
            <a:ext cx="9143997" cy="1828752"/>
            <a:chOff x="-10" y="3735321"/>
            <a:chExt cx="9139427" cy="1408177"/>
          </a:xfrm>
        </p:grpSpPr>
        <p:pic>
          <p:nvPicPr>
            <p:cNvPr id="142" name="Google Shape;142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5"/>
            <p:cNvPicPr preferRelativeResize="0"/>
            <p:nvPr/>
          </p:nvPicPr>
          <p:blipFill rotWithShape="1">
            <a:blip r:embed="rId3">
              <a:alphaModFix/>
            </a:blip>
            <a:srcRect t="139" b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5"/>
            <p:cNvPicPr preferRelativeResize="0"/>
            <p:nvPr/>
          </p:nvPicPr>
          <p:blipFill rotWithShape="1">
            <a:blip r:embed="rId4">
              <a:alphaModFix/>
            </a:blip>
            <a:srcRect t="139" b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15"/>
          <p:cNvSpPr/>
          <p:nvPr/>
        </p:nvSpPr>
        <p:spPr>
          <a:xfrm>
            <a:off x="456932" y="6531900"/>
            <a:ext cx="16359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2025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366600" y="4213917"/>
            <a:ext cx="5394900" cy="5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title" idx="2"/>
          </p:nvPr>
        </p:nvSpPr>
        <p:spPr>
          <a:xfrm>
            <a:off x="366600" y="5812924"/>
            <a:ext cx="42054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457200" y="731520"/>
            <a:ext cx="1828808" cy="557349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5"/>
          <p:cNvSpPr txBox="1">
            <a:spLocks noGrp="1"/>
          </p:cNvSpPr>
          <p:nvPr>
            <p:ph type="title" idx="3"/>
          </p:nvPr>
        </p:nvSpPr>
        <p:spPr>
          <a:xfrm>
            <a:off x="366600" y="1584967"/>
            <a:ext cx="7410900" cy="2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90249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02">
  <p:cSld name="Cover 02">
    <p:bg>
      <p:bgPr>
        <a:solidFill>
          <a:schemeClr val="accen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6"/>
          <p:cNvGrpSpPr/>
          <p:nvPr/>
        </p:nvGrpSpPr>
        <p:grpSpPr>
          <a:xfrm>
            <a:off x="-2" y="3886468"/>
            <a:ext cx="9143627" cy="2971233"/>
            <a:chOff x="-834856" y="2711517"/>
            <a:chExt cx="9978858" cy="2431981"/>
          </a:xfrm>
        </p:grpSpPr>
        <p:pic>
          <p:nvPicPr>
            <p:cNvPr id="152" name="Google Shape;152;p16"/>
            <p:cNvPicPr preferRelativeResize="0"/>
            <p:nvPr/>
          </p:nvPicPr>
          <p:blipFill rotWithShape="1">
            <a:blip r:embed="rId2">
              <a:alphaModFix amt="85000"/>
            </a:blip>
            <a:srcRect l="45992" t="24707" b="30782"/>
            <a:stretch/>
          </p:blipFill>
          <p:spPr>
            <a:xfrm>
              <a:off x="-834856" y="2711517"/>
              <a:ext cx="3540541" cy="24319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16"/>
            <p:cNvPicPr preferRelativeResize="0"/>
            <p:nvPr/>
          </p:nvPicPr>
          <p:blipFill rotWithShape="1">
            <a:blip r:embed="rId3">
              <a:alphaModFix amt="85000"/>
            </a:blip>
            <a:srcRect t="25271" r="1931" b="30786"/>
            <a:stretch/>
          </p:blipFill>
          <p:spPr>
            <a:xfrm>
              <a:off x="2715550" y="2742300"/>
              <a:ext cx="6428452" cy="24011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/>
          <p:nvPr/>
        </p:nvSpPr>
        <p:spPr>
          <a:xfrm>
            <a:off x="456932" y="6531900"/>
            <a:ext cx="16359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2025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6"/>
          <p:cNvSpPr txBox="1">
            <a:spLocks noGrp="1"/>
          </p:cNvSpPr>
          <p:nvPr>
            <p:ph type="title"/>
          </p:nvPr>
        </p:nvSpPr>
        <p:spPr>
          <a:xfrm>
            <a:off x="366600" y="1584967"/>
            <a:ext cx="7403400" cy="2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6" name="Google Shape;156;p16"/>
          <p:cNvSpPr txBox="1">
            <a:spLocks noGrp="1"/>
          </p:cNvSpPr>
          <p:nvPr>
            <p:ph type="title" idx="2"/>
          </p:nvPr>
        </p:nvSpPr>
        <p:spPr>
          <a:xfrm>
            <a:off x="366600" y="4213917"/>
            <a:ext cx="5394900" cy="5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7" name="Google Shape;157;p16"/>
          <p:cNvSpPr txBox="1">
            <a:spLocks noGrp="1"/>
          </p:cNvSpPr>
          <p:nvPr>
            <p:ph type="title" idx="3"/>
          </p:nvPr>
        </p:nvSpPr>
        <p:spPr>
          <a:xfrm>
            <a:off x="366600" y="5812924"/>
            <a:ext cx="42054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457200" y="731520"/>
            <a:ext cx="1828808" cy="557349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55787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03">
  <p:cSld name="Cover 03">
    <p:bg>
      <p:bgPr>
        <a:solidFill>
          <a:schemeClr val="accen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17"/>
          <p:cNvGrpSpPr/>
          <p:nvPr/>
        </p:nvGrpSpPr>
        <p:grpSpPr>
          <a:xfrm rot="-5400000">
            <a:off x="4362747" y="2053053"/>
            <a:ext cx="6885635" cy="2747927"/>
            <a:chOff x="1155183" y="3814094"/>
            <a:chExt cx="3118306" cy="1659276"/>
          </a:xfrm>
        </p:grpSpPr>
        <p:pic>
          <p:nvPicPr>
            <p:cNvPr id="161" name="Google Shape;161;p17"/>
            <p:cNvPicPr preferRelativeResize="0"/>
            <p:nvPr/>
          </p:nvPicPr>
          <p:blipFill rotWithShape="1">
            <a:blip r:embed="rId2">
              <a:alphaModFix/>
            </a:blip>
            <a:srcRect l="37919" t="24705" b="10228"/>
            <a:stretch/>
          </p:blipFill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7"/>
            <p:cNvPicPr preferRelativeResize="0"/>
            <p:nvPr/>
          </p:nvPicPr>
          <p:blipFill rotWithShape="1">
            <a:blip r:embed="rId3">
              <a:alphaModFix/>
            </a:blip>
            <a:srcRect t="25270" r="59873" b="9950"/>
            <a:stretch/>
          </p:blipFill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" name="Google Shape;163;p17"/>
          <p:cNvSpPr/>
          <p:nvPr/>
        </p:nvSpPr>
        <p:spPr>
          <a:xfrm>
            <a:off x="456932" y="6531900"/>
            <a:ext cx="16359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2025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7"/>
          <p:cNvSpPr txBox="1">
            <a:spLocks noGrp="1"/>
          </p:cNvSpPr>
          <p:nvPr>
            <p:ph type="title"/>
          </p:nvPr>
        </p:nvSpPr>
        <p:spPr>
          <a:xfrm>
            <a:off x="366600" y="1584967"/>
            <a:ext cx="7408800" cy="2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title" idx="2"/>
          </p:nvPr>
        </p:nvSpPr>
        <p:spPr>
          <a:xfrm>
            <a:off x="366600" y="4213917"/>
            <a:ext cx="5394900" cy="5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6" name="Google Shape;166;p17"/>
          <p:cNvSpPr txBox="1">
            <a:spLocks noGrp="1"/>
          </p:cNvSpPr>
          <p:nvPr>
            <p:ph type="title" idx="3"/>
          </p:nvPr>
        </p:nvSpPr>
        <p:spPr>
          <a:xfrm>
            <a:off x="366600" y="5812924"/>
            <a:ext cx="42054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457200" y="731520"/>
            <a:ext cx="1828808" cy="557349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60358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04">
  <p:cSld name="Cover 04">
    <p:bg>
      <p:bgPr>
        <a:solidFill>
          <a:schemeClr val="accen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456932" y="6531900"/>
            <a:ext cx="16359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2025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8"/>
          <p:cNvSpPr txBox="1">
            <a:spLocks noGrp="1"/>
          </p:cNvSpPr>
          <p:nvPr>
            <p:ph type="title"/>
          </p:nvPr>
        </p:nvSpPr>
        <p:spPr>
          <a:xfrm>
            <a:off x="366600" y="1584967"/>
            <a:ext cx="7408800" cy="2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1" name="Google Shape;171;p18"/>
          <p:cNvSpPr txBox="1">
            <a:spLocks noGrp="1"/>
          </p:cNvSpPr>
          <p:nvPr>
            <p:ph type="title" idx="2"/>
          </p:nvPr>
        </p:nvSpPr>
        <p:spPr>
          <a:xfrm>
            <a:off x="366600" y="4213917"/>
            <a:ext cx="5394900" cy="5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18"/>
          <p:cNvSpPr txBox="1">
            <a:spLocks noGrp="1"/>
          </p:cNvSpPr>
          <p:nvPr>
            <p:ph type="title" idx="3"/>
          </p:nvPr>
        </p:nvSpPr>
        <p:spPr>
          <a:xfrm>
            <a:off x="366600" y="5812924"/>
            <a:ext cx="42054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457200" y="731520"/>
            <a:ext cx="1828808" cy="557349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14260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w/ Customer Logo">
  <p:cSld name="Cover w/ Customer Logo">
    <p:bg>
      <p:bgPr>
        <a:solidFill>
          <a:schemeClr val="accen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9"/>
          <p:cNvGrpSpPr/>
          <p:nvPr/>
        </p:nvGrpSpPr>
        <p:grpSpPr>
          <a:xfrm rot="-5400000">
            <a:off x="2254379" y="2856451"/>
            <a:ext cx="6876195" cy="1163295"/>
            <a:chOff x="49487" y="3735321"/>
            <a:chExt cx="6094477" cy="1408177"/>
          </a:xfrm>
        </p:grpSpPr>
        <p:pic>
          <p:nvPicPr>
            <p:cNvPr id="176" name="Google Shape;176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9487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9"/>
            <p:cNvPicPr preferRelativeResize="0"/>
            <p:nvPr/>
          </p:nvPicPr>
          <p:blipFill rotWithShape="1">
            <a:blip r:embed="rId3">
              <a:alphaModFix/>
            </a:blip>
            <a:srcRect t="139" b="139"/>
            <a:stretch/>
          </p:blipFill>
          <p:spPr>
            <a:xfrm>
              <a:off x="3099012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" name="Google Shape;178;p19"/>
          <p:cNvGrpSpPr/>
          <p:nvPr/>
        </p:nvGrpSpPr>
        <p:grpSpPr>
          <a:xfrm rot="-5400000">
            <a:off x="2254379" y="2856451"/>
            <a:ext cx="6876195" cy="1163295"/>
            <a:chOff x="49487" y="3735321"/>
            <a:chExt cx="6094477" cy="1408177"/>
          </a:xfrm>
        </p:grpSpPr>
        <p:pic>
          <p:nvPicPr>
            <p:cNvPr id="179" name="Google Shape;179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9487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19"/>
            <p:cNvPicPr preferRelativeResize="0"/>
            <p:nvPr/>
          </p:nvPicPr>
          <p:blipFill rotWithShape="1">
            <a:blip r:embed="rId3">
              <a:alphaModFix/>
            </a:blip>
            <a:srcRect t="139" b="139"/>
            <a:stretch/>
          </p:blipFill>
          <p:spPr>
            <a:xfrm>
              <a:off x="3099012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1" name="Google Shape;181;p19"/>
          <p:cNvSpPr txBox="1">
            <a:spLocks noGrp="1"/>
          </p:cNvSpPr>
          <p:nvPr>
            <p:ph type="sldNum" idx="12"/>
          </p:nvPr>
        </p:nvSpPr>
        <p:spPr>
          <a:xfrm>
            <a:off x="8229600" y="6517011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82" name="Google Shape;182;p19"/>
          <p:cNvSpPr/>
          <p:nvPr/>
        </p:nvSpPr>
        <p:spPr>
          <a:xfrm>
            <a:off x="456932" y="6531900"/>
            <a:ext cx="16359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2025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9"/>
          <p:cNvSpPr txBox="1">
            <a:spLocks noGrp="1"/>
          </p:cNvSpPr>
          <p:nvPr>
            <p:ph type="title"/>
          </p:nvPr>
        </p:nvSpPr>
        <p:spPr>
          <a:xfrm>
            <a:off x="366600" y="1584967"/>
            <a:ext cx="5730900" cy="2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4" name="Google Shape;184;p19"/>
          <p:cNvSpPr txBox="1">
            <a:spLocks noGrp="1"/>
          </p:cNvSpPr>
          <p:nvPr>
            <p:ph type="title" idx="2"/>
          </p:nvPr>
        </p:nvSpPr>
        <p:spPr>
          <a:xfrm>
            <a:off x="366600" y="4213917"/>
            <a:ext cx="5394900" cy="5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5" name="Google Shape;185;p19"/>
          <p:cNvSpPr txBox="1">
            <a:spLocks noGrp="1"/>
          </p:cNvSpPr>
          <p:nvPr>
            <p:ph type="title" idx="3"/>
          </p:nvPr>
        </p:nvSpPr>
        <p:spPr>
          <a:xfrm>
            <a:off x="366600" y="5812924"/>
            <a:ext cx="42054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6097525" y="0"/>
            <a:ext cx="30465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87" name="Google Shape;187;p19"/>
          <p:cNvSpPr/>
          <p:nvPr/>
        </p:nvSpPr>
        <p:spPr>
          <a:xfrm>
            <a:off x="457200" y="731520"/>
            <a:ext cx="1828808" cy="557349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42844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1 (No Graphics)">
  <p:cSld name="Divider - Dark Blue 01 (No Graphics)">
    <p:bg>
      <p:bgPr>
        <a:solidFill>
          <a:schemeClr val="dk2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>
            <a:spLocks noGrp="1"/>
          </p:cNvSpPr>
          <p:nvPr>
            <p:ph type="body" idx="1"/>
          </p:nvPr>
        </p:nvSpPr>
        <p:spPr>
          <a:xfrm>
            <a:off x="365760" y="1619267"/>
            <a:ext cx="7484400" cy="36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Google Shape;190;p20"/>
          <p:cNvSpPr/>
          <p:nvPr/>
        </p:nvSpPr>
        <p:spPr>
          <a:xfrm>
            <a:off x="660652" y="6489221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25477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2">
  <p:cSld name="Divider - Dark Blue 02">
    <p:bg>
      <p:bgPr>
        <a:solidFill>
          <a:schemeClr val="dk2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/>
          <p:nvPr/>
        </p:nvSpPr>
        <p:spPr>
          <a:xfrm>
            <a:off x="660652" y="6489221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21"/>
          <p:cNvPicPr preferRelativeResize="0"/>
          <p:nvPr/>
        </p:nvPicPr>
        <p:blipFill rotWithShape="1">
          <a:blip r:embed="rId2">
            <a:alphaModFix amt="27000"/>
          </a:blip>
          <a:srcRect l="21476"/>
          <a:stretch/>
        </p:blipFill>
        <p:spPr>
          <a:xfrm flipH="1">
            <a:off x="7048002" y="2373734"/>
            <a:ext cx="2095998" cy="3874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 rotWithShape="1">
          <a:blip r:embed="rId3">
            <a:alphaModFix/>
          </a:blip>
          <a:srcRect l="20792" t="10992"/>
          <a:stretch/>
        </p:blipFill>
        <p:spPr>
          <a:xfrm>
            <a:off x="1" y="1"/>
            <a:ext cx="1320175" cy="215363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>
            <a:spLocks noGrp="1"/>
          </p:cNvSpPr>
          <p:nvPr>
            <p:ph type="body" idx="1"/>
          </p:nvPr>
        </p:nvSpPr>
        <p:spPr>
          <a:xfrm>
            <a:off x="365760" y="1619267"/>
            <a:ext cx="7484400" cy="36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659789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3">
  <p:cSld name="Divider - Dark Blue 03">
    <p:bg>
      <p:bgPr>
        <a:solidFill>
          <a:schemeClr val="dk2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22"/>
          <p:cNvGrpSpPr/>
          <p:nvPr/>
        </p:nvGrpSpPr>
        <p:grpSpPr>
          <a:xfrm>
            <a:off x="-10" y="5027252"/>
            <a:ext cx="9143997" cy="1828752"/>
            <a:chOff x="-10" y="3735321"/>
            <a:chExt cx="9139427" cy="1408177"/>
          </a:xfrm>
        </p:grpSpPr>
        <p:pic>
          <p:nvPicPr>
            <p:cNvPr id="200" name="Google Shape;200;p22"/>
            <p:cNvPicPr preferRelativeResize="0"/>
            <p:nvPr/>
          </p:nvPicPr>
          <p:blipFill>
            <a:blip r:embed="rId2">
              <a:alphaModFix amt="72000"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22"/>
            <p:cNvPicPr preferRelativeResize="0"/>
            <p:nvPr/>
          </p:nvPicPr>
          <p:blipFill rotWithShape="1">
            <a:blip r:embed="rId3">
              <a:alphaModFix amt="72000"/>
            </a:blip>
            <a:srcRect t="139" b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2"/>
            <p:cNvPicPr preferRelativeResize="0"/>
            <p:nvPr/>
          </p:nvPicPr>
          <p:blipFill rotWithShape="1">
            <a:blip r:embed="rId4">
              <a:alphaModFix amt="72000"/>
            </a:blip>
            <a:srcRect t="139" b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3" name="Google Shape;203;p22"/>
          <p:cNvSpPr/>
          <p:nvPr/>
        </p:nvSpPr>
        <p:spPr>
          <a:xfrm>
            <a:off x="660652" y="6489221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2"/>
          <p:cNvSpPr txBox="1">
            <a:spLocks noGrp="1"/>
          </p:cNvSpPr>
          <p:nvPr>
            <p:ph type="body" idx="1"/>
          </p:nvPr>
        </p:nvSpPr>
        <p:spPr>
          <a:xfrm>
            <a:off x="365760" y="1619267"/>
            <a:ext cx="7484400" cy="36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07314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4">
  <p:cSld name="Divider - Dark Blue 04">
    <p:bg>
      <p:bgPr>
        <a:solidFill>
          <a:schemeClr val="dk2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/>
          <p:nvPr/>
        </p:nvSpPr>
        <p:spPr>
          <a:xfrm>
            <a:off x="660652" y="6489221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" name="Google Shape;209;p23"/>
          <p:cNvGrpSpPr/>
          <p:nvPr/>
        </p:nvGrpSpPr>
        <p:grpSpPr>
          <a:xfrm>
            <a:off x="4" y="2405300"/>
            <a:ext cx="9143996" cy="4452701"/>
            <a:chOff x="4" y="1803975"/>
            <a:chExt cx="9143996" cy="3339526"/>
          </a:xfrm>
        </p:grpSpPr>
        <p:pic>
          <p:nvPicPr>
            <p:cNvPr id="210" name="Google Shape;210;p23"/>
            <p:cNvPicPr preferRelativeResize="0"/>
            <p:nvPr/>
          </p:nvPicPr>
          <p:blipFill rotWithShape="1">
            <a:blip r:embed="rId2">
              <a:alphaModFix amt="57000"/>
            </a:blip>
            <a:srcRect l="32605" b="34253"/>
            <a:stretch/>
          </p:blipFill>
          <p:spPr>
            <a:xfrm flipH="1">
              <a:off x="5036874" y="1804050"/>
              <a:ext cx="4107126" cy="3339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3"/>
            <p:cNvPicPr preferRelativeResize="0"/>
            <p:nvPr/>
          </p:nvPicPr>
          <p:blipFill rotWithShape="1">
            <a:blip r:embed="rId3">
              <a:alphaModFix amt="57000"/>
            </a:blip>
            <a:srcRect r="17498" b="34258"/>
            <a:stretch/>
          </p:blipFill>
          <p:spPr>
            <a:xfrm flipH="1">
              <a:off x="4" y="1803975"/>
              <a:ext cx="5027748" cy="3339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" name="Google Shape;212;p23"/>
          <p:cNvSpPr txBox="1">
            <a:spLocks noGrp="1"/>
          </p:cNvSpPr>
          <p:nvPr>
            <p:ph type="body" idx="1"/>
          </p:nvPr>
        </p:nvSpPr>
        <p:spPr>
          <a:xfrm>
            <a:off x="365760" y="1619267"/>
            <a:ext cx="7484400" cy="36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76416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5">
  <p:cSld name="Divider - Dark Blue 05">
    <p:bg>
      <p:bgPr>
        <a:solidFill>
          <a:schemeClr val="dk2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/>
          <p:nvPr/>
        </p:nvSpPr>
        <p:spPr>
          <a:xfrm>
            <a:off x="660652" y="6489221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6" name="Google Shape;216;p24"/>
          <p:cNvGrpSpPr/>
          <p:nvPr/>
        </p:nvGrpSpPr>
        <p:grpSpPr>
          <a:xfrm rot="-5400000">
            <a:off x="4362747" y="2053053"/>
            <a:ext cx="6885635" cy="2747927"/>
            <a:chOff x="1155183" y="3814094"/>
            <a:chExt cx="3118306" cy="1659276"/>
          </a:xfrm>
        </p:grpSpPr>
        <p:pic>
          <p:nvPicPr>
            <p:cNvPr id="217" name="Google Shape;217;p24"/>
            <p:cNvPicPr preferRelativeResize="0"/>
            <p:nvPr/>
          </p:nvPicPr>
          <p:blipFill rotWithShape="1">
            <a:blip r:embed="rId2">
              <a:alphaModFix amt="58000"/>
            </a:blip>
            <a:srcRect l="37919" t="24705" b="10228"/>
            <a:stretch/>
          </p:blipFill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24"/>
            <p:cNvPicPr preferRelativeResize="0"/>
            <p:nvPr/>
          </p:nvPicPr>
          <p:blipFill rotWithShape="1">
            <a:blip r:embed="rId3">
              <a:alphaModFix amt="58000"/>
            </a:blip>
            <a:srcRect t="25270" r="59873" b="9950"/>
            <a:stretch/>
          </p:blipFill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9" name="Google Shape;219;p24"/>
          <p:cNvSpPr txBox="1">
            <a:spLocks noGrp="1"/>
          </p:cNvSpPr>
          <p:nvPr>
            <p:ph type="body" idx="1"/>
          </p:nvPr>
        </p:nvSpPr>
        <p:spPr>
          <a:xfrm>
            <a:off x="365760" y="1619267"/>
            <a:ext cx="7484400" cy="36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74487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Dark Blue">
  <p:cSld name="Quote - Dark Blue">
    <p:bg>
      <p:bgPr>
        <a:solidFill>
          <a:schemeClr val="dk2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>
            <a:spLocks noGrp="1"/>
          </p:cNvSpPr>
          <p:nvPr>
            <p:ph type="body" idx="1"/>
          </p:nvPr>
        </p:nvSpPr>
        <p:spPr>
          <a:xfrm>
            <a:off x="365750" y="1775967"/>
            <a:ext cx="7484400" cy="3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 b="1" cap="none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2" name="Google Shape;222;p25"/>
          <p:cNvSpPr/>
          <p:nvPr/>
        </p:nvSpPr>
        <p:spPr>
          <a:xfrm>
            <a:off x="660652" y="6489221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5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225" name="Google Shape;225;p25"/>
          <p:cNvGrpSpPr/>
          <p:nvPr/>
        </p:nvGrpSpPr>
        <p:grpSpPr>
          <a:xfrm>
            <a:off x="457209" y="632173"/>
            <a:ext cx="1177786" cy="1143799"/>
            <a:chOff x="865451" y="2114550"/>
            <a:chExt cx="3399093" cy="2475755"/>
          </a:xfrm>
        </p:grpSpPr>
        <p:sp>
          <p:nvSpPr>
            <p:cNvPr id="226" name="Google Shape;226;p25"/>
            <p:cNvSpPr/>
            <p:nvPr/>
          </p:nvSpPr>
          <p:spPr>
            <a:xfrm>
              <a:off x="865451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25"/>
            <p:cNvSpPr/>
            <p:nvPr/>
          </p:nvSpPr>
          <p:spPr>
            <a:xfrm>
              <a:off x="2693163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25"/>
          <p:cNvSpPr txBox="1">
            <a:spLocks noGrp="1"/>
          </p:cNvSpPr>
          <p:nvPr>
            <p:ph type="subTitle" idx="2"/>
          </p:nvPr>
        </p:nvSpPr>
        <p:spPr>
          <a:xfrm>
            <a:off x="365755" y="5364480"/>
            <a:ext cx="4206300" cy="3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 b="1">
                <a:solidFill>
                  <a:srgbClr val="FFFFFF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191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White">
  <p:cSld name="Quote - White">
    <p:bg>
      <p:bgPr>
        <a:solidFill>
          <a:schemeClr val="lt1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>
            <a:spLocks noGrp="1"/>
          </p:cNvSpPr>
          <p:nvPr>
            <p:ph type="body" idx="1"/>
          </p:nvPr>
        </p:nvSpPr>
        <p:spPr>
          <a:xfrm>
            <a:off x="365750" y="1775967"/>
            <a:ext cx="7484400" cy="3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 b="1" cap="none">
                <a:solidFill>
                  <a:schemeClr val="dk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1" name="Google Shape;231;p26"/>
          <p:cNvGrpSpPr/>
          <p:nvPr/>
        </p:nvGrpSpPr>
        <p:grpSpPr>
          <a:xfrm>
            <a:off x="457209" y="632173"/>
            <a:ext cx="1177786" cy="1143799"/>
            <a:chOff x="865451" y="2114550"/>
            <a:chExt cx="3399093" cy="2475755"/>
          </a:xfrm>
        </p:grpSpPr>
        <p:sp>
          <p:nvSpPr>
            <p:cNvPr id="232" name="Google Shape;232;p26"/>
            <p:cNvSpPr/>
            <p:nvPr/>
          </p:nvSpPr>
          <p:spPr>
            <a:xfrm>
              <a:off x="865451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2693163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26"/>
          <p:cNvSpPr txBox="1">
            <a:spLocks noGrp="1"/>
          </p:cNvSpPr>
          <p:nvPr>
            <p:ph type="subTitle" idx="2"/>
          </p:nvPr>
        </p:nvSpPr>
        <p:spPr>
          <a:xfrm>
            <a:off x="365755" y="5364480"/>
            <a:ext cx="4206300" cy="3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 b="1"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 b="1"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5" name="Google Shape;235;p26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6" name="Google Shape;236;p26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6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88697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Dark Blue w/ Photo">
  <p:cSld name="Quote - Dark Blue w/ Photo">
    <p:bg>
      <p:bgPr>
        <a:solidFill>
          <a:schemeClr val="dk2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>
            <a:spLocks noGrp="1"/>
          </p:cNvSpPr>
          <p:nvPr>
            <p:ph type="body" idx="1"/>
          </p:nvPr>
        </p:nvSpPr>
        <p:spPr>
          <a:xfrm>
            <a:off x="365750" y="1775967"/>
            <a:ext cx="6076500" cy="3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 b="1" cap="none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0" name="Google Shape;240;p27"/>
          <p:cNvSpPr/>
          <p:nvPr/>
        </p:nvSpPr>
        <p:spPr>
          <a:xfrm>
            <a:off x="660652" y="6489221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7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243" name="Google Shape;243;p27"/>
          <p:cNvGrpSpPr/>
          <p:nvPr/>
        </p:nvGrpSpPr>
        <p:grpSpPr>
          <a:xfrm>
            <a:off x="457209" y="632173"/>
            <a:ext cx="1177786" cy="1143799"/>
            <a:chOff x="865451" y="2114550"/>
            <a:chExt cx="3399093" cy="2475755"/>
          </a:xfrm>
        </p:grpSpPr>
        <p:sp>
          <p:nvSpPr>
            <p:cNvPr id="244" name="Google Shape;244;p27"/>
            <p:cNvSpPr/>
            <p:nvPr/>
          </p:nvSpPr>
          <p:spPr>
            <a:xfrm>
              <a:off x="865451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27"/>
            <p:cNvSpPr/>
            <p:nvPr/>
          </p:nvSpPr>
          <p:spPr>
            <a:xfrm>
              <a:off x="2693163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27"/>
          <p:cNvSpPr txBox="1">
            <a:spLocks noGrp="1"/>
          </p:cNvSpPr>
          <p:nvPr>
            <p:ph type="subTitle" idx="2"/>
          </p:nvPr>
        </p:nvSpPr>
        <p:spPr>
          <a:xfrm>
            <a:off x="3017525" y="5333329"/>
            <a:ext cx="4206300" cy="91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 b="1">
                <a:solidFill>
                  <a:srgbClr val="FFFFFF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607851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/>
          <p:nvPr/>
        </p:nvSpPr>
        <p:spPr>
          <a:xfrm>
            <a:off x="0" y="1493600"/>
            <a:ext cx="9144000" cy="536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9" name="Google Shape;249;p28"/>
          <p:cNvSpPr txBox="1">
            <a:spLocks noGrp="1"/>
          </p:cNvSpPr>
          <p:nvPr>
            <p:ph type="title"/>
          </p:nvPr>
        </p:nvSpPr>
        <p:spPr>
          <a:xfrm>
            <a:off x="366550" y="365764"/>
            <a:ext cx="8348400" cy="5247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0" name="Google Shape;250;p28"/>
          <p:cNvSpPr/>
          <p:nvPr/>
        </p:nvSpPr>
        <p:spPr>
          <a:xfrm>
            <a:off x="660652" y="6489221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8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8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53" name="Google Shape;253;p28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9828970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01">
  <p:cSld name="Thank You 01">
    <p:bg>
      <p:bgPr>
        <a:solidFill>
          <a:schemeClr val="accent1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/>
          <p:nvPr/>
        </p:nvSpPr>
        <p:spPr>
          <a:xfrm>
            <a:off x="457200" y="5925549"/>
            <a:ext cx="1444930" cy="440600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9"/>
          <p:cNvSpPr/>
          <p:nvPr/>
        </p:nvSpPr>
        <p:spPr>
          <a:xfrm>
            <a:off x="457202" y="6486144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9"/>
          <p:cNvSpPr txBox="1">
            <a:spLocks noGrp="1"/>
          </p:cNvSpPr>
          <p:nvPr>
            <p:ph type="body" idx="1"/>
          </p:nvPr>
        </p:nvSpPr>
        <p:spPr>
          <a:xfrm>
            <a:off x="365750" y="2515133"/>
            <a:ext cx="7484400" cy="18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72769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02">
  <p:cSld name="Thank You 02">
    <p:bg>
      <p:bgPr>
        <a:solidFill>
          <a:schemeClr val="accent1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/>
          <p:nvPr/>
        </p:nvSpPr>
        <p:spPr>
          <a:xfrm>
            <a:off x="457200" y="5925549"/>
            <a:ext cx="1444930" cy="440600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0"/>
          <p:cNvSpPr txBox="1">
            <a:spLocks noGrp="1"/>
          </p:cNvSpPr>
          <p:nvPr>
            <p:ph type="body" idx="1"/>
          </p:nvPr>
        </p:nvSpPr>
        <p:spPr>
          <a:xfrm>
            <a:off x="365750" y="2515133"/>
            <a:ext cx="7484400" cy="18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1" name="Google Shape;261;p30"/>
          <p:cNvSpPr/>
          <p:nvPr/>
        </p:nvSpPr>
        <p:spPr>
          <a:xfrm>
            <a:off x="457202" y="6486144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2" name="Google Shape;262;p30"/>
          <p:cNvGrpSpPr/>
          <p:nvPr/>
        </p:nvGrpSpPr>
        <p:grpSpPr>
          <a:xfrm>
            <a:off x="-10" y="5027252"/>
            <a:ext cx="9143997" cy="1828752"/>
            <a:chOff x="-10" y="3735321"/>
            <a:chExt cx="9139427" cy="1408177"/>
          </a:xfrm>
        </p:grpSpPr>
        <p:pic>
          <p:nvPicPr>
            <p:cNvPr id="263" name="Google Shape;263;p3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30"/>
            <p:cNvPicPr preferRelativeResize="0"/>
            <p:nvPr/>
          </p:nvPicPr>
          <p:blipFill rotWithShape="1">
            <a:blip r:embed="rId3">
              <a:alphaModFix/>
            </a:blip>
            <a:srcRect t="139" b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30"/>
            <p:cNvPicPr preferRelativeResize="0"/>
            <p:nvPr/>
          </p:nvPicPr>
          <p:blipFill rotWithShape="1">
            <a:blip r:embed="rId4">
              <a:alphaModFix/>
            </a:blip>
            <a:srcRect t="139" b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8095148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102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82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66550" y="365764"/>
            <a:ext cx="8348400" cy="524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 b="1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2pPr>
            <a:lvl3pPr lvl="2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3pPr>
            <a:lvl4pPr lvl="3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4pPr>
            <a:lvl5pPr lvl="4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5pPr>
            <a:lvl6pPr lvl="5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6pPr>
            <a:lvl7pPr lvl="6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7pPr>
            <a:lvl8pPr lvl="7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8pPr>
            <a:lvl9pPr lvl="8" rtl="0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800" b="1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65750" y="1706867"/>
            <a:ext cx="8320200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sz="1800" i="0" u="none" strike="noStrike" cap="none">
                <a:solidFill>
                  <a:srgbClr val="5B5B5B"/>
                </a:solidFill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sz="1800" i="0" u="none" strike="noStrike" cap="none">
                <a:solidFill>
                  <a:srgbClr val="5B5B5B"/>
                </a:solidFill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Google Shape;9;p1"/>
          <p:cNvSpPr txBox="1"/>
          <p:nvPr/>
        </p:nvSpPr>
        <p:spPr>
          <a:xfrm>
            <a:off x="3837300" y="-874133"/>
            <a:ext cx="5306700" cy="2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8C8C8"/>
                </a:solidFill>
              </a:rPr>
              <a:t>SNOWFLAKE GSLIDES THEME 2025.01</a:t>
            </a:r>
            <a:endParaRPr sz="800">
              <a:solidFill>
                <a:srgbClr val="C8C8C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92342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403">
          <p15:clr>
            <a:srgbClr val="F26B43"/>
          </p15:clr>
        </p15:guide>
        <p15:guide id="3" orient="horz" pos="1620">
          <p15:clr>
            <a:srgbClr val="EA4335"/>
          </p15:clr>
        </p15:guide>
        <p15:guide id="4" orient="horz" pos="2952">
          <p15:clr>
            <a:srgbClr val="F26B43"/>
          </p15:clr>
        </p15:guide>
        <p15:guide id="5" pos="288">
          <p15:clr>
            <a:srgbClr val="EA4335"/>
          </p15:clr>
        </p15:guide>
        <p15:guide id="6" pos="5472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3"/>
          </p:nvPr>
        </p:nvSpPr>
        <p:spPr>
          <a:xfrm>
            <a:off x="366600" y="1584967"/>
            <a:ext cx="7410900" cy="2560400"/>
          </a:xfrm>
        </p:spPr>
        <p:txBody>
          <a:bodyPr wrap="square" anchor="b">
            <a:normAutofit/>
          </a:bodyPr>
          <a:lstStyle/>
          <a:p>
            <a:r>
              <a:rPr lang="en-US"/>
              <a:t>Machine Learning Pipeline on Snowflake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234440" y="4270248"/>
            <a:ext cx="6400800" cy="17526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dirty="0"/>
              <a:t>End-to-end ML lifecycle: Feature Engineering, Training, Deployment, and Monitoring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1115569"/>
            <a:ext cx="8320200" cy="4598520"/>
          </a:xfrm>
        </p:spPr>
        <p:txBody>
          <a:bodyPr/>
          <a:lstStyle/>
          <a:p>
            <a:r>
              <a:rPr dirty="0"/>
              <a:t>Business Problem</a:t>
            </a:r>
          </a:p>
          <a:p>
            <a:r>
              <a:rPr dirty="0"/>
              <a:t>Feature Store</a:t>
            </a:r>
          </a:p>
          <a:p>
            <a:r>
              <a:rPr dirty="0"/>
              <a:t>ML Workspace &amp; Notebooks</a:t>
            </a:r>
          </a:p>
          <a:p>
            <a:r>
              <a:rPr dirty="0"/>
              <a:t>Experiment Tracking</a:t>
            </a:r>
          </a:p>
          <a:p>
            <a:r>
              <a:rPr dirty="0"/>
              <a:t>Model Registry</a:t>
            </a:r>
          </a:p>
          <a:p>
            <a:r>
              <a:rPr dirty="0"/>
              <a:t>Model Monitoring</a:t>
            </a:r>
          </a:p>
          <a:p>
            <a:r>
              <a:rPr dirty="0"/>
              <a:t>Image Repository</a:t>
            </a:r>
          </a:p>
          <a:p>
            <a:r>
              <a:rPr dirty="0"/>
              <a:t>Snowpark Container Services (SPCS)</a:t>
            </a:r>
          </a:p>
          <a:p>
            <a:r>
              <a:rPr dirty="0"/>
              <a:t>Job Execution</a:t>
            </a:r>
          </a:p>
          <a:p>
            <a:r>
              <a:rPr dirty="0"/>
              <a:t>Automation with Tasks</a:t>
            </a:r>
          </a:p>
          <a:p>
            <a:r>
              <a:rPr dirty="0"/>
              <a:t>Evaluation Metrics</a:t>
            </a:r>
          </a:p>
          <a:p>
            <a:r>
              <a:rPr dirty="0"/>
              <a:t>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1069848"/>
            <a:ext cx="8320200" cy="3370045"/>
          </a:xfrm>
        </p:spPr>
        <p:txBody>
          <a:bodyPr/>
          <a:lstStyle/>
          <a:p>
            <a:pPr marL="114300" indent="0">
              <a:buNone/>
            </a:pPr>
            <a:r>
              <a:rPr dirty="0"/>
              <a:t>Traditional ML workflows are fragmented:</a:t>
            </a:r>
          </a:p>
          <a:p>
            <a:r>
              <a:rPr dirty="0"/>
              <a:t>Data stored in one system</a:t>
            </a:r>
          </a:p>
          <a:p>
            <a:r>
              <a:rPr dirty="0"/>
              <a:t>Training done in external environments</a:t>
            </a:r>
          </a:p>
          <a:p>
            <a:r>
              <a:rPr dirty="0"/>
              <a:t>Deployment requires additional tools</a:t>
            </a:r>
          </a:p>
          <a:p>
            <a:r>
              <a:rPr dirty="0"/>
              <a:t>Manual version tracking</a:t>
            </a:r>
          </a:p>
          <a:p>
            <a:r>
              <a:rPr dirty="0"/>
              <a:t>Difficult to monitor model performance</a:t>
            </a:r>
          </a:p>
          <a:p>
            <a:endParaRPr dirty="0"/>
          </a:p>
          <a:p>
            <a:pPr marL="114300" indent="0">
              <a:buNone/>
            </a:pPr>
            <a:r>
              <a:rPr dirty="0"/>
              <a:t>Snowflake unifies data, ML, and operations in a single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1024128"/>
            <a:ext cx="8320200" cy="3415765"/>
          </a:xfrm>
        </p:spPr>
        <p:txBody>
          <a:bodyPr/>
          <a:lstStyle/>
          <a:p>
            <a:pPr marL="114300" indent="0">
              <a:buNone/>
            </a:pPr>
            <a:r>
              <a:rPr dirty="0"/>
              <a:t>Centralized repository for ML features.</a:t>
            </a:r>
            <a:endParaRPr lang="en-US" dirty="0"/>
          </a:p>
          <a:p>
            <a:pPr marL="114300" indent="0">
              <a:buNone/>
            </a:pPr>
            <a:endParaRPr dirty="0"/>
          </a:p>
          <a:p>
            <a:pPr marL="114300" indent="0">
              <a:buNone/>
            </a:pPr>
            <a:r>
              <a:rPr dirty="0"/>
              <a:t>Benefits:</a:t>
            </a:r>
          </a:p>
          <a:p>
            <a:r>
              <a:rPr dirty="0"/>
              <a:t>Consistent features for training and inference</a:t>
            </a:r>
          </a:p>
          <a:p>
            <a:r>
              <a:rPr dirty="0"/>
              <a:t>Eliminates duplicate feature logic</a:t>
            </a:r>
          </a:p>
          <a:p>
            <a:r>
              <a:rPr dirty="0"/>
              <a:t>Ensures point-in-time correctness</a:t>
            </a:r>
          </a:p>
          <a:p>
            <a:r>
              <a:rPr dirty="0"/>
              <a:t>Reusable feature definitions across models</a:t>
            </a:r>
          </a:p>
          <a:p>
            <a:r>
              <a:rPr dirty="0"/>
              <a:t>Improved governance and lineage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Workspace &amp; Notebooks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1188720"/>
            <a:ext cx="8320200" cy="3051574"/>
          </a:xfrm>
        </p:spPr>
        <p:txBody>
          <a:bodyPr/>
          <a:lstStyle/>
          <a:p>
            <a:pPr marL="114300" indent="0">
              <a:buNone/>
            </a:pPr>
            <a:r>
              <a:rPr dirty="0"/>
              <a:t>Integrated development environment inside Snowflake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dirty="0"/>
          </a:p>
          <a:p>
            <a:pPr marL="114300" indent="0">
              <a:buNone/>
            </a:pPr>
            <a:r>
              <a:rPr dirty="0"/>
              <a:t>Capabilities:</a:t>
            </a:r>
          </a:p>
          <a:p>
            <a:r>
              <a:rPr dirty="0"/>
              <a:t>Python</a:t>
            </a:r>
            <a:r>
              <a:rPr lang="en-US" dirty="0"/>
              <a:t> file</a:t>
            </a:r>
            <a:r>
              <a:rPr dirty="0"/>
              <a:t> and SQL</a:t>
            </a:r>
            <a:r>
              <a:rPr lang="en-US" dirty="0"/>
              <a:t>, and Notebook</a:t>
            </a:r>
            <a:r>
              <a:rPr dirty="0"/>
              <a:t> in the browser</a:t>
            </a:r>
          </a:p>
          <a:p>
            <a:r>
              <a:rPr dirty="0"/>
              <a:t>Direct data access without movement</a:t>
            </a:r>
          </a:p>
          <a:p>
            <a:r>
              <a:rPr dirty="0"/>
              <a:t>Built-in compute environment</a:t>
            </a:r>
          </a:p>
          <a:p>
            <a:r>
              <a:rPr dirty="0"/>
              <a:t>Visualization and debugging tools</a:t>
            </a:r>
          </a:p>
          <a:p>
            <a:endParaRPr dirty="0"/>
          </a:p>
          <a:p>
            <a:pPr marL="114300" indent="0">
              <a:buNone/>
            </a:pPr>
            <a:r>
              <a:rPr dirty="0"/>
              <a:t>Removes dependency on local or external environments.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1088137"/>
            <a:ext cx="8320200" cy="3033208"/>
          </a:xfrm>
        </p:spPr>
        <p:txBody>
          <a:bodyPr/>
          <a:lstStyle/>
          <a:p>
            <a:pPr marL="114300" indent="0">
              <a:buNone/>
            </a:pPr>
            <a:r>
              <a:rPr dirty="0"/>
              <a:t>Systematically records:</a:t>
            </a:r>
          </a:p>
          <a:p>
            <a:r>
              <a:rPr dirty="0"/>
              <a:t>Model versions</a:t>
            </a:r>
          </a:p>
          <a:p>
            <a:r>
              <a:rPr dirty="0"/>
              <a:t>Training parameters</a:t>
            </a:r>
          </a:p>
          <a:p>
            <a:r>
              <a:rPr dirty="0"/>
              <a:t>Performance metrics</a:t>
            </a:r>
          </a:p>
          <a:p>
            <a:r>
              <a:rPr dirty="0"/>
              <a:t>Training artifacts and logs</a:t>
            </a:r>
          </a:p>
          <a:p>
            <a:endParaRPr dirty="0"/>
          </a:p>
          <a:p>
            <a:pPr marL="114300" indent="0">
              <a:buNone/>
            </a:pPr>
            <a:r>
              <a:rPr dirty="0"/>
              <a:t>Enables comparison of experiments and reproducible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Registry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996696"/>
            <a:ext cx="8320200" cy="3761745"/>
          </a:xfrm>
        </p:spPr>
        <p:txBody>
          <a:bodyPr/>
          <a:lstStyle/>
          <a:p>
            <a:pPr marL="114300" indent="0">
              <a:buNone/>
            </a:pPr>
            <a:r>
              <a:rPr dirty="0"/>
              <a:t>Centralized storage for trained models.</a:t>
            </a:r>
            <a:endParaRPr lang="en-US" dirty="0"/>
          </a:p>
          <a:p>
            <a:pPr marL="114300" indent="0">
              <a:buNone/>
            </a:pPr>
            <a:endParaRPr dirty="0"/>
          </a:p>
          <a:p>
            <a:pPr marL="114300" indent="0">
              <a:buNone/>
            </a:pPr>
            <a:r>
              <a:rPr dirty="0"/>
              <a:t>Provides:</a:t>
            </a:r>
          </a:p>
          <a:p>
            <a:r>
              <a:rPr dirty="0"/>
              <a:t>Version control</a:t>
            </a:r>
          </a:p>
          <a:p>
            <a:r>
              <a:rPr dirty="0"/>
              <a:t>Promotion workflow (staging → production)</a:t>
            </a:r>
          </a:p>
          <a:p>
            <a:r>
              <a:rPr dirty="0"/>
              <a:t>Metadata and documentation</a:t>
            </a:r>
          </a:p>
          <a:p>
            <a:r>
              <a:rPr dirty="0"/>
              <a:t>Rollback capability</a:t>
            </a:r>
          </a:p>
          <a:p>
            <a:endParaRPr dirty="0"/>
          </a:p>
          <a:p>
            <a:pPr marL="114300" indent="0">
              <a:buNone/>
            </a:pPr>
            <a:r>
              <a:rPr dirty="0"/>
              <a:t>Ensures only approved and tracked models are deployed.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1161288"/>
            <a:ext cx="8320200" cy="3278605"/>
          </a:xfrm>
        </p:spPr>
        <p:txBody>
          <a:bodyPr/>
          <a:lstStyle/>
          <a:p>
            <a:pPr marL="114300" indent="0">
              <a:buNone/>
            </a:pPr>
            <a:r>
              <a:rPr dirty="0"/>
              <a:t>Tracks model performance after deployment.</a:t>
            </a:r>
          </a:p>
          <a:p>
            <a:pPr marL="114300" indent="0">
              <a:buNone/>
            </a:pPr>
            <a:r>
              <a:rPr dirty="0"/>
              <a:t>Monitors:</a:t>
            </a:r>
          </a:p>
          <a:p>
            <a:r>
              <a:rPr dirty="0"/>
              <a:t>Prediction drift</a:t>
            </a:r>
          </a:p>
          <a:p>
            <a:r>
              <a:rPr dirty="0"/>
              <a:t>Data drift</a:t>
            </a:r>
          </a:p>
          <a:p>
            <a:r>
              <a:rPr dirty="0"/>
              <a:t>Accuracy changes over time</a:t>
            </a:r>
          </a:p>
          <a:p>
            <a:r>
              <a:rPr dirty="0"/>
              <a:t>Feature-level distribution shifts</a:t>
            </a:r>
          </a:p>
          <a:p>
            <a:endParaRPr dirty="0"/>
          </a:p>
          <a:p>
            <a:pPr marL="114300" indent="0">
              <a:buNone/>
            </a:pPr>
            <a:r>
              <a:rPr dirty="0"/>
              <a:t>Supports proactive retraining and governance.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1133856"/>
            <a:ext cx="8320200" cy="3624585"/>
          </a:xfrm>
        </p:spPr>
        <p:txBody>
          <a:bodyPr/>
          <a:lstStyle/>
          <a:p>
            <a:pPr marL="114300" indent="0">
              <a:buNone/>
            </a:pPr>
            <a:r>
              <a:rPr dirty="0"/>
              <a:t>Stores Docker images securely inside Snowflake.</a:t>
            </a:r>
            <a:endParaRPr lang="en-US" dirty="0"/>
          </a:p>
          <a:p>
            <a:pPr marL="114300" indent="0">
              <a:buNone/>
            </a:pPr>
            <a:endParaRPr dirty="0"/>
          </a:p>
          <a:p>
            <a:pPr marL="114300" indent="0">
              <a:buNone/>
            </a:pPr>
            <a:r>
              <a:rPr dirty="0"/>
              <a:t>Advantages:</a:t>
            </a:r>
          </a:p>
          <a:p>
            <a:r>
              <a:rPr dirty="0"/>
              <a:t>Consistent runtime environments</a:t>
            </a:r>
          </a:p>
          <a:p>
            <a:r>
              <a:rPr dirty="0"/>
              <a:t>No external container registry needed</a:t>
            </a:r>
          </a:p>
          <a:p>
            <a:r>
              <a:rPr dirty="0"/>
              <a:t>Governance and access control included</a:t>
            </a:r>
          </a:p>
          <a:p>
            <a:r>
              <a:rPr dirty="0"/>
              <a:t>Easy deployment to SPCS</a:t>
            </a:r>
          </a:p>
          <a:p>
            <a:endParaRPr dirty="0"/>
          </a:p>
          <a:p>
            <a:pPr marL="114300" indent="0">
              <a:buNone/>
            </a:pPr>
            <a:r>
              <a:rPr dirty="0"/>
              <a:t>Ideal for custom ML frameworks and dependencies.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Snowpark Container Services (SPCS)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1133856"/>
            <a:ext cx="8320200" cy="3306037"/>
          </a:xfrm>
        </p:spPr>
        <p:txBody>
          <a:bodyPr/>
          <a:lstStyle/>
          <a:p>
            <a:pPr marL="114300" indent="0">
              <a:buNone/>
            </a:pPr>
            <a:r>
              <a:rPr dirty="0"/>
              <a:t>Runs Docker containers directly in Snowflake compute.</a:t>
            </a:r>
          </a:p>
          <a:p>
            <a:pPr marL="114300" indent="0">
              <a:buNone/>
            </a:pPr>
            <a:r>
              <a:rPr dirty="0"/>
              <a:t>Use cases:</a:t>
            </a:r>
          </a:p>
          <a:p>
            <a:r>
              <a:rPr dirty="0"/>
              <a:t>Custom ML training</a:t>
            </a:r>
          </a:p>
          <a:p>
            <a:r>
              <a:rPr dirty="0"/>
              <a:t>Batch inference</a:t>
            </a:r>
          </a:p>
          <a:p>
            <a:r>
              <a:rPr dirty="0"/>
              <a:t>Microservices / APIs</a:t>
            </a:r>
          </a:p>
          <a:p>
            <a:r>
              <a:rPr dirty="0"/>
              <a:t>Large-scale data processing</a:t>
            </a:r>
          </a:p>
          <a:p>
            <a:endParaRPr dirty="0"/>
          </a:p>
          <a:p>
            <a:pPr marL="114300" indent="0">
              <a:buNone/>
            </a:pPr>
            <a:r>
              <a:rPr lang="en-US" dirty="0"/>
              <a:t>S</a:t>
            </a:r>
            <a:r>
              <a:rPr dirty="0"/>
              <a:t>nowflake manages scaling, security, and orchestration.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Executing Jobs in SPCS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1115568"/>
            <a:ext cx="8320200" cy="3642873"/>
          </a:xfrm>
        </p:spPr>
        <p:txBody>
          <a:bodyPr/>
          <a:lstStyle/>
          <a:p>
            <a:pPr marL="114300" indent="0">
              <a:buNone/>
            </a:pPr>
            <a:r>
              <a:rPr dirty="0"/>
              <a:t>Jobs run one-off tasks such as:</a:t>
            </a:r>
          </a:p>
          <a:p>
            <a:r>
              <a:rPr dirty="0"/>
              <a:t>Training scripts</a:t>
            </a:r>
          </a:p>
          <a:p>
            <a:r>
              <a:rPr dirty="0"/>
              <a:t>Batch inference workloads</a:t>
            </a:r>
          </a:p>
          <a:p>
            <a:r>
              <a:rPr dirty="0"/>
              <a:t>Data transformations</a:t>
            </a:r>
          </a:p>
          <a:p>
            <a:endParaRPr dirty="0"/>
          </a:p>
          <a:p>
            <a:pPr marL="114300" indent="0">
              <a:buNone/>
            </a:pPr>
            <a:r>
              <a:rPr dirty="0"/>
              <a:t>Snowflake handles:</a:t>
            </a:r>
          </a:p>
          <a:p>
            <a:r>
              <a:rPr dirty="0"/>
              <a:t>Logging</a:t>
            </a:r>
          </a:p>
          <a:p>
            <a:r>
              <a:rPr dirty="0"/>
              <a:t>Scaling</a:t>
            </a:r>
          </a:p>
          <a:p>
            <a:r>
              <a:rPr dirty="0"/>
              <a:t>Failover and retries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Using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1161288"/>
            <a:ext cx="8320200" cy="3597153"/>
          </a:xfrm>
        </p:spPr>
        <p:txBody>
          <a:bodyPr/>
          <a:lstStyle/>
          <a:p>
            <a:pPr marL="114300" indent="0">
              <a:buNone/>
            </a:pPr>
            <a:r>
              <a:rPr dirty="0"/>
              <a:t>Tasks schedule and automate ML processes.</a:t>
            </a:r>
          </a:p>
          <a:p>
            <a:endParaRPr dirty="0"/>
          </a:p>
          <a:p>
            <a:pPr marL="114300" indent="0">
              <a:buNone/>
            </a:pPr>
            <a:r>
              <a:rPr dirty="0"/>
              <a:t>Example workflow:</a:t>
            </a:r>
          </a:p>
          <a:p>
            <a:r>
              <a:rPr dirty="0"/>
              <a:t>Train model daily</a:t>
            </a:r>
          </a:p>
          <a:p>
            <a:r>
              <a:rPr dirty="0"/>
              <a:t>Generate monitoring reports</a:t>
            </a:r>
          </a:p>
          <a:p>
            <a:r>
              <a:rPr dirty="0"/>
              <a:t>Run batch predictions</a:t>
            </a:r>
          </a:p>
          <a:p>
            <a:r>
              <a:rPr dirty="0"/>
              <a:t>Update ground truth data</a:t>
            </a:r>
          </a:p>
          <a:p>
            <a:endParaRPr dirty="0"/>
          </a:p>
          <a:p>
            <a:pPr marL="114300" indent="0">
              <a:buNone/>
            </a:pPr>
            <a:r>
              <a:rPr dirty="0"/>
              <a:t>Eliminates external schedulers.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1207009"/>
            <a:ext cx="8320200" cy="4007221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MAE (Mean Absolute Error):</a:t>
            </a:r>
          </a:p>
          <a:p>
            <a:r>
              <a:rPr lang="en-US" dirty="0"/>
              <a:t>Measures the average difference between predicted and actual values.</a:t>
            </a:r>
          </a:p>
          <a:p>
            <a:r>
              <a:rPr lang="en-US" dirty="0"/>
              <a:t>Our MAE = 1.59 days (On average, predictions are off by about 1.6 days.)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RMSE (Root Mean Squared Error):</a:t>
            </a:r>
          </a:p>
          <a:p>
            <a:r>
              <a:rPr lang="en-US" dirty="0"/>
              <a:t>Penalizes larger mistakes more heavily.</a:t>
            </a:r>
          </a:p>
          <a:p>
            <a:r>
              <a:rPr lang="en-US" dirty="0"/>
              <a:t>Our RMSE = 1.97 days (Typical prediction error is around 2 days, with big errors being rare.)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Interpretation:</a:t>
            </a:r>
          </a:p>
          <a:p>
            <a:r>
              <a:rPr lang="en-US" dirty="0"/>
              <a:t>The model performs well for a 7-day forecasting window.</a:t>
            </a:r>
          </a:p>
          <a:p>
            <a:r>
              <a:rPr lang="en-US" dirty="0"/>
              <a:t>Lower values = better prediction accuracy.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1706867"/>
            <a:ext cx="8320200" cy="3688672"/>
          </a:xfrm>
        </p:spPr>
        <p:txBody>
          <a:bodyPr/>
          <a:lstStyle/>
          <a:p>
            <a:pPr marL="114300" indent="0">
              <a:buNone/>
            </a:pPr>
            <a:r>
              <a:rPr dirty="0"/>
              <a:t>Snowflake provides a complete ML ecosystem:</a:t>
            </a:r>
          </a:p>
          <a:p>
            <a:r>
              <a:rPr dirty="0"/>
              <a:t>Unified data and compute</a:t>
            </a:r>
          </a:p>
          <a:p>
            <a:r>
              <a:rPr dirty="0"/>
              <a:t>Governed feature store</a:t>
            </a:r>
          </a:p>
          <a:p>
            <a:r>
              <a:rPr dirty="0"/>
              <a:t>Notebook-based development</a:t>
            </a:r>
          </a:p>
          <a:p>
            <a:r>
              <a:rPr dirty="0"/>
              <a:t>Automated experiment tracking</a:t>
            </a:r>
          </a:p>
          <a:p>
            <a:r>
              <a:rPr dirty="0"/>
              <a:t>Model registry and versioning</a:t>
            </a:r>
          </a:p>
          <a:p>
            <a:r>
              <a:rPr dirty="0"/>
              <a:t>Monitoring for drift detection</a:t>
            </a:r>
          </a:p>
          <a:p>
            <a:r>
              <a:rPr dirty="0"/>
              <a:t>Container execution (SPCS)</a:t>
            </a:r>
          </a:p>
          <a:p>
            <a:r>
              <a:rPr dirty="0"/>
              <a:t>Automated pipelines via Tasks</a:t>
            </a:r>
          </a:p>
          <a:p>
            <a:endParaRPr dirty="0"/>
          </a:p>
          <a:p>
            <a:pPr marL="114300" indent="0">
              <a:buNone/>
            </a:pPr>
            <a:r>
              <a:rPr dirty="0"/>
              <a:t>Enables reliable, scalable end-to-end ML workflows.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365750" y="1775967"/>
            <a:ext cx="6076500" cy="34628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t>Thank you.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subTitle" idx="2"/>
          </p:nvPr>
        </p:nvSpPr>
        <p:spPr>
          <a:xfrm>
            <a:off x="3017525" y="5333329"/>
            <a:ext cx="4206300" cy="915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t>Questions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nowflake 2025.01">
  <a:themeElements>
    <a:clrScheme name="Snowflake 2018">
      <a:dk1>
        <a:srgbClr val="262626"/>
      </a:dk1>
      <a:lt1>
        <a:srgbClr val="FFFFFF"/>
      </a:lt1>
      <a:dk2>
        <a:srgbClr val="11567F"/>
      </a:dk2>
      <a:lt2>
        <a:srgbClr val="FFFFFF"/>
      </a:lt2>
      <a:accent1>
        <a:srgbClr val="29B5E8"/>
      </a:accent1>
      <a:accent2>
        <a:srgbClr val="11567F"/>
      </a:accent2>
      <a:accent3>
        <a:srgbClr val="71D3DC"/>
      </a:accent3>
      <a:accent4>
        <a:srgbClr val="FF9F36"/>
      </a:accent4>
      <a:accent5>
        <a:srgbClr val="7D44CF"/>
      </a:accent5>
      <a:accent6>
        <a:srgbClr val="D45B90"/>
      </a:accent6>
      <a:hlink>
        <a:srgbClr val="29B5E8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PRESENTAATION</Template>
  <TotalTime>18</TotalTime>
  <Words>517</Words>
  <Application>Microsoft Office PowerPoint</Application>
  <PresentationFormat>On-screen Show (4:3)</PresentationFormat>
  <Paragraphs>135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Calibri</vt:lpstr>
      <vt:lpstr>Lato</vt:lpstr>
      <vt:lpstr>Montserrat</vt:lpstr>
      <vt:lpstr>Snowflake 2025.01</vt:lpstr>
      <vt:lpstr>Machine Learning Pipeline on Snowflake</vt:lpstr>
      <vt:lpstr>Agenda</vt:lpstr>
      <vt:lpstr>Business Problem</vt:lpstr>
      <vt:lpstr>Feature Store</vt:lpstr>
      <vt:lpstr>ML Workspace &amp; Notebooks</vt:lpstr>
      <vt:lpstr>Experiment Tracking</vt:lpstr>
      <vt:lpstr>Model Registry</vt:lpstr>
      <vt:lpstr>Model Monitoring</vt:lpstr>
      <vt:lpstr>Image Repository</vt:lpstr>
      <vt:lpstr>Snowpark Container Services (SPCS)</vt:lpstr>
      <vt:lpstr>Executing Jobs in SPCS</vt:lpstr>
      <vt:lpstr>Automation Using Tasks</vt:lpstr>
      <vt:lpstr>Evaluation Metrics Overview</vt:lpstr>
      <vt:lpstr>Summary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Elie Niringiyimana</cp:lastModifiedBy>
  <cp:revision>2</cp:revision>
  <dcterms:created xsi:type="dcterms:W3CDTF">2013-01-27T09:14:16Z</dcterms:created>
  <dcterms:modified xsi:type="dcterms:W3CDTF">2026-01-14T09:12:51Z</dcterms:modified>
  <cp:category/>
</cp:coreProperties>
</file>