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SOW DOCUMENT INTELLIGENCE</a:t>
            </a:r>
          </a:p>
          <a:p>
            <a:r>
              <a:t>WITH SNOWFLAKE CORTEX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Extraction &amp; Analysis of Statement of Work Contracts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Overview</a:t>
            </a:r>
          </a:p>
          <a:p>
            <a:r>
              <a:t>• Solution Architecture</a:t>
            </a:r>
          </a:p>
          <a:p>
            <a:r>
              <a:t>• Internal Stage &amp; Upload</a:t>
            </a:r>
          </a:p>
          <a:p>
            <a:r>
              <a:t>• AI_EXTRACT Data Extraction</a:t>
            </a:r>
          </a:p>
          <a:p>
            <a:r>
              <a:t>• Data Storage (Flat Tables &amp; JSON)</a:t>
            </a:r>
          </a:p>
          <a:p>
            <a:r>
              <a:t>• Accuracy Results &amp; Findings</a:t>
            </a:r>
          </a:p>
          <a:p>
            <a:r>
              <a:t>• Cortex Analyst &amp; Semantic Model</a:t>
            </a:r>
          </a:p>
          <a:p>
            <a:r>
              <a:t>• Cortex Agent &amp; Snowflake Intelligence</a:t>
            </a:r>
          </a:p>
          <a:p>
            <a:r>
              <a:t>• Object Locations &amp; Access</a:t>
            </a:r>
          </a:p>
          <a:p>
            <a:r>
              <a:t>• Next Steps: S3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Automatically extract structured data from SOW PDFs using Snowflake Cortex AI.</a:t>
            </a:r>
          </a:p>
          <a:p/>
          <a:p>
            <a:r>
              <a:t>What We Built:</a:t>
            </a:r>
          </a:p>
          <a:p>
            <a:r>
              <a:t>• Automated PDF extraction pipeline using AI_EXTRACT</a:t>
            </a:r>
          </a:p>
          <a:p>
            <a:r>
              <a:t>• 3 structured tables: Details, Resources, Deliverables</a:t>
            </a:r>
          </a:p>
          <a:p>
            <a:r>
              <a:t>• Natural language query interface (Cortex Agent)</a:t>
            </a:r>
          </a:p>
          <a:p>
            <a:r>
              <a:t>• Semantic model for data analysis</a:t>
            </a:r>
          </a:p>
          <a:p/>
          <a:p>
            <a:r>
              <a:t>Scope:</a:t>
            </a:r>
          </a:p>
          <a:p>
            <a:r>
              <a:t>• Documents Processed: 28 SOW PDFs</a:t>
            </a:r>
          </a:p>
          <a:p>
            <a:r>
              <a:t>• Fields Extracted: 16+ contract fields per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Flow:</a:t>
            </a:r>
          </a:p>
          <a:p>
            <a:r>
              <a:t>PDF Documents → Internal Stage → AI_EXTRACT → JSON → Flat Tables</a:t>
            </a:r>
          </a:p>
          <a:p>
            <a:r>
              <a:t>↓</a:t>
            </a:r>
          </a:p>
          <a:p>
            <a:r>
              <a:t>Snowflake Intelligence ← SOW_AGENT ← SOW_ANALYST</a:t>
            </a:r>
          </a:p>
          <a:p/>
          <a:p>
            <a:r>
              <a:t>Technology Stack:</a:t>
            </a:r>
          </a:p>
          <a:p>
            <a:r>
              <a:t>• Document Storage: Snowflake Internal Stage</a:t>
            </a:r>
          </a:p>
          <a:p>
            <a:r>
              <a:t>• AI Extraction: Snowflake Cortex AI_EXTRACT</a:t>
            </a:r>
          </a:p>
          <a:p>
            <a:r>
              <a:t>• Data Storage: Flat Tables + JSON</a:t>
            </a:r>
          </a:p>
          <a:p>
            <a:r>
              <a:t>• Semantic Layer: Cortex Analyst (SOW_ANALYST)</a:t>
            </a:r>
          </a:p>
          <a:p>
            <a:r>
              <a:t>• AI Assistant: Cortex Agent (SOW_AGENT)</a:t>
            </a:r>
          </a:p>
          <a:p>
            <a:r>
              <a:t>• Interface: Snowflake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Internal Stage &amp; Document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Internal Stage:</a:t>
            </a:r>
          </a:p>
          <a:p>
            <a:r>
              <a:t>CREATE STAGE SF_CONTRACTOR_DB.BFS.DOCUMENT_EXTRACTION</a:t>
            </a:r>
          </a:p>
          <a:p>
            <a:r>
              <a:t>  DIRECTORY = (ENABLE = TRUE)</a:t>
            </a:r>
          </a:p>
          <a:p>
            <a:r>
              <a:t>  ENCRYPTION = (TYPE = 'SNOWFLAKE_SSE');</a:t>
            </a:r>
          </a:p>
          <a:p/>
          <a:p>
            <a:r>
              <a:t>Upload:</a:t>
            </a:r>
          </a:p>
          <a:p>
            <a:r>
              <a:t>• 28 SOW PDF documents</a:t>
            </a:r>
          </a:p>
          <a:p/>
          <a:p>
            <a:r>
              <a:t>Verify:</a:t>
            </a:r>
          </a:p>
          <a:p>
            <a:r>
              <a:t>SELECT * FROM DIRECTORY(@DOCUMENT_EXTRACTION);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AI_EXTRACT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AI_EXTRACT?</a:t>
            </a:r>
          </a:p>
          <a:p>
            <a:r>
              <a:t>• Snowflake Cortex AI function</a:t>
            </a:r>
          </a:p>
          <a:p>
            <a:r>
              <a:t>• Extracts structured data from PDFs</a:t>
            </a:r>
          </a:p>
          <a:p>
            <a:r>
              <a:t>• Uses LLM to understand document content</a:t>
            </a:r>
          </a:p>
          <a:p>
            <a:r>
              <a:t>• Returns JSON based on defined schema</a:t>
            </a:r>
          </a:p>
          <a:p>
            <a:r>
              <a:t>• No pre-training required</a:t>
            </a:r>
          </a:p>
          <a:p/>
          <a:p>
            <a:r>
              <a:t>Key Features:</a:t>
            </a:r>
          </a:p>
          <a:p>
            <a:r>
              <a:t>✓ Handles various PDF formats</a:t>
            </a:r>
          </a:p>
          <a:p>
            <a:r>
              <a:t>✓ Schema-based extraction</a:t>
            </a:r>
          </a:p>
          <a:p>
            <a:r>
              <a:t>✓ Works with internal &amp; external stages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CONTRACT DETAILS (16 fields):</a:t>
            </a:r>
          </a:p>
          <a:p>
            <a:r>
              <a:t>sow_name, buyer, supplier_name, start_date, end_date,</a:t>
            </a:r>
          </a:p>
          <a:p>
            <a:r>
              <a:t>engagement_type, scope, description, managed_category,</a:t>
            </a:r>
          </a:p>
          <a:p>
            <a:r>
              <a:t>total_budget, currency, city, state, country, payment_type</a:t>
            </a:r>
          </a:p>
          <a:p/>
          <a:p>
            <a:r>
              <a:t>RESOURCES (14 fields per resource):</a:t>
            </a:r>
          </a:p>
          <a:p>
            <a:r>
              <a:t>role, level, rate, rate_type, currency, count, total_cost,</a:t>
            </a:r>
          </a:p>
          <a:p>
            <a:r>
              <a:t>start_date, end_date, country, state, city, location_type, description</a:t>
            </a:r>
          </a:p>
          <a:p/>
          <a:p>
            <a:r>
              <a:t>DELIVERABLES (6 fields per deliverable):</a:t>
            </a:r>
          </a:p>
          <a:p>
            <a:r>
              <a:t>number, type, name, description, amount, currency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Normalized Tables:</a:t>
            </a:r>
          </a:p>
          <a:p>
            <a:r>
              <a:t>• SOW_DETAILS_V3 | 28 rows | 1 row per document</a:t>
            </a:r>
          </a:p>
          <a:p>
            <a:r>
              <a:t>• SOW_RESOURCES_V3 | 50+ rows | 1 row per resource</a:t>
            </a:r>
          </a:p>
          <a:p>
            <a:r>
              <a:t>• SOW_DELIVERABLES_V3 | 80+ rows | 1 row per deliverable</a:t>
            </a:r>
          </a:p>
          <a:p/>
          <a:p>
            <a:r>
              <a:t>Plus JSON Storage: EXTRACTION_RESULTS_V3</a:t>
            </a:r>
          </a:p>
          <a:p>
            <a:r>
              <a:t>• Preserves raw AI output</a:t>
            </a:r>
          </a:p>
          <a:p>
            <a:r>
              <a:t>• Enables reprocessing without re-extraction</a:t>
            </a:r>
          </a:p>
          <a:p>
            <a:r>
              <a:t>• Supports validation and debugging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 | Accuracy</a:t>
            </a:r>
          </a:p>
          <a:p>
            <a:r>
              <a:t>buyer         | 92.9%</a:t>
            </a:r>
          </a:p>
          <a:p>
            <a:r>
              <a:t>supplier_name | 92.9%</a:t>
            </a:r>
          </a:p>
          <a:p>
            <a:r>
              <a:t>end_date      | 96.4%</a:t>
            </a:r>
          </a:p>
          <a:p>
            <a:r>
              <a:t>currency      | 89.3%</a:t>
            </a:r>
          </a:p>
          <a:p>
            <a:r>
              <a:t>total_budget  | 78.6%</a:t>
            </a:r>
          </a:p>
          <a:p>
            <a:r>
              <a:t>country       | 89.3%</a:t>
            </a:r>
          </a:p>
          <a:p>
            <a:r>
              <a:t>sow_name      | 67.9%</a:t>
            </a:r>
          </a:p>
          <a:p/>
          <a:p>
            <a:r>
              <a:t>OVERALL       | 61.5%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Findings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 Truth Challenges:</a:t>
            </a:r>
          </a:p>
          <a:p>
            <a:r>
              <a:t>• Some values in ground truth were NOT found in actual PDF documents</a:t>
            </a:r>
          </a:p>
          <a:p>
            <a:r>
              <a:t>• Date formats varied: MM/DD/YYYY vs YYYY-MM-DD</a:t>
            </a:r>
          </a:p>
          <a:p>
            <a:r>
              <a:t>• Currency formats varied: "US Dollar" vs "USD"</a:t>
            </a:r>
          </a:p>
          <a:p>
            <a:r>
              <a:t>• Some fields not extracted due to document complexity</a:t>
            </a:r>
          </a:p>
          <a:p/>
          <a:p>
            <a:r>
              <a:t>What This Means:</a:t>
            </a:r>
          </a:p>
          <a:p>
            <a:r>
              <a:t>• Accuracy numbers are not fully reliable</a:t>
            </a:r>
          </a:p>
          <a:p>
            <a:r>
              <a:t>• AI extraction is working - manual PDF review confirmed correct extractions</a:t>
            </a:r>
          </a:p>
          <a:p/>
          <a:p>
            <a:r>
              <a:t>Next Steps for Accuracy:</a:t>
            </a:r>
          </a:p>
          <a:p>
            <a:r>
              <a:t>• Verify ground truth values exist in PDFs</a:t>
            </a:r>
          </a:p>
          <a:p>
            <a:r>
              <a:t>• Standardize date/currency formats</a:t>
            </a:r>
          </a:p>
          <a:p>
            <a:r>
              <a:t>• Test on larger document sample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Cortex Analyst?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Snowflake's semantic layer for natural language queries.</a:t>
            </a:r>
          </a:p>
          <a:p/>
          <a:p>
            <a:r>
              <a:t>How it works:</a:t>
            </a:r>
          </a:p>
          <a:p>
            <a:r>
              <a:t>User Question → Cortex Analyst → SQL Query → Results</a:t>
            </a:r>
          </a:p>
          <a:p>
            <a:r>
              <a:t>"Total budget?" → (Semantic Model) → SUM(budget) → $613M</a:t>
            </a:r>
          </a:p>
          <a:p/>
          <a:p>
            <a:r>
              <a:t>Our Implementation: SOW_ANALYST</a:t>
            </a:r>
          </a:p>
          <a:p>
            <a:r>
              <a:t>• Connected to 3 SOW tables</a:t>
            </a:r>
          </a:p>
          <a:p>
            <a:r>
              <a:t>• Dimensions defined for all fields</a:t>
            </a:r>
          </a:p>
          <a:p>
            <a:r>
              <a:t>• Enables natural language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Cortex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assistant that uses tools to answer questions.</a:t>
            </a:r>
          </a:p>
          <a:p/>
          <a:p>
            <a:r>
              <a:t>Our Implementation: SOW_AGENT</a:t>
            </a:r>
          </a:p>
          <a:p>
            <a:r>
              <a:t>• Tool: SOW_Data_Analyzer</a:t>
            </a:r>
          </a:p>
          <a:p>
            <a:r>
              <a:t>• Connected to: SOW_ANALYST semantic model</a:t>
            </a:r>
          </a:p>
          <a:p>
            <a:r>
              <a:t>• Provides: Conversational interface</a:t>
            </a:r>
          </a:p>
          <a:p/>
          <a:p>
            <a:r>
              <a:t>Example:</a:t>
            </a:r>
          </a:p>
          <a:p>
            <a:r>
              <a:t>User: "What is the total budget across all contracts?"</a:t>
            </a:r>
          </a:p>
          <a:p>
            <a:r>
              <a:t>Agent: "The total budget is $613,303,084.54"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AI interface in Snowflake.</a:t>
            </a:r>
          </a:p>
          <a:p/>
          <a:p>
            <a:r>
              <a:t>Features:</a:t>
            </a:r>
          </a:p>
          <a:p>
            <a:r>
              <a:t>• Chat-based interaction with your data</a:t>
            </a:r>
          </a:p>
          <a:p>
            <a:r>
              <a:t>• Connects to Cortex Agents</a:t>
            </a:r>
          </a:p>
          <a:p>
            <a:r>
              <a:t>• Natural language queries</a:t>
            </a:r>
          </a:p>
          <a:p/>
          <a:p>
            <a:r>
              <a:t>Demo:</a:t>
            </a:r>
          </a:p>
          <a:p>
            <a:r>
              <a:t>User: "What is the total budget across all contracts?"</a:t>
            </a:r>
          </a:p>
          <a:p>
            <a:r>
              <a:t>Agent: "$613,303,084.54"</a:t>
            </a:r>
          </a:p>
          <a:p>
            <a:r>
              <a:t>[Insert Snowflake Intelligence screenshot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Object Locations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Objects Deployed:</a:t>
            </a:r>
          </a:p>
          <a:p/>
          <a:p>
            <a:r>
              <a:t>Database       | SF_CONTRACTOR_DB</a:t>
            </a:r>
          </a:p>
          <a:p>
            <a:r>
              <a:t>Schema         | BFS</a:t>
            </a:r>
          </a:p>
          <a:p>
            <a:r>
              <a:t>Stage          | SF_CONTRACTOR_DB.BFS.DOCUMENT_EXTRACTION</a:t>
            </a:r>
          </a:p>
          <a:p>
            <a:r>
              <a:t>Details Table  | SF_CONTRACTOR_DB.BFS.SOW_DETAILS_V3</a:t>
            </a:r>
          </a:p>
          <a:p>
            <a:r>
              <a:t>Resources Table| SF_CONTRACTOR_DB.BFS.SOW_RESOURCES_V3</a:t>
            </a:r>
          </a:p>
          <a:p>
            <a:r>
              <a:t>Deliverables   | SF_CONTRACTOR_DB.BFS.SOW_DELIVERABLES_V3</a:t>
            </a:r>
          </a:p>
          <a:p>
            <a:r>
              <a:t>JSON Table     | SF_CONTRACTOR_DB.BFS.EXTRACTION_RESULTS_V3</a:t>
            </a:r>
          </a:p>
          <a:p>
            <a:r>
              <a:t>Semantic Model | SF_CONTRACTOR_DB.BFS.SOW_ANALYST</a:t>
            </a:r>
          </a:p>
          <a:p>
            <a:r>
              <a:t>Cortex Agent   | SF_CONTRACTOR_DB.BFS.SOW_AGENT</a:t>
            </a:r>
          </a:p>
          <a:p/>
          <a:p>
            <a:r>
              <a:t>Snowflake Intelligence URL:</a:t>
            </a:r>
          </a:p>
          <a:p>
            <a:r>
              <a:t>https://ai.snowflake.com/brightfield/tdx/#/ai/chat/new?db=SF_CONTRACTOR_DB&amp;schema=BFS&amp;agent=SOW_AGENT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S3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State:</a:t>
            </a:r>
          </a:p>
          <a:p>
            <a:r>
              <a:t>✓ Internal stage with 28 test documents</a:t>
            </a:r>
          </a:p>
          <a:p>
            <a:r>
              <a:t>✓ AI_EXTRACT pipeline working</a:t>
            </a:r>
          </a:p>
          <a:p>
            <a:r>
              <a:t>✓ Semantic model and agent deployed</a:t>
            </a:r>
          </a:p>
          <a:p/>
          <a:p>
            <a:r>
              <a:t>Next Phase (Client Action Required):</a:t>
            </a:r>
          </a:p>
          <a:p>
            <a:r>
              <a:t>• Create S3 bucket for production documents</a:t>
            </a:r>
          </a:p>
          <a:p>
            <a:r>
              <a:t>• Create Storage Integration in Snowflake</a:t>
            </a:r>
          </a:p>
          <a:p>
            <a:r>
              <a:t>• Create External Stage pointing to S3</a:t>
            </a:r>
          </a:p>
          <a:p>
            <a:r>
              <a:t>• Test extraction on production documents</a:t>
            </a:r>
          </a:p>
          <a:p>
            <a:r>
              <a:t>• Validate accuracy with verified ground truth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Delivered:</a:t>
            </a:r>
          </a:p>
          <a:p>
            <a:r>
              <a:t>✓ Automated SOW PDF extraction pipeline</a:t>
            </a:r>
          </a:p>
          <a:p>
            <a:r>
              <a:t>✓ Structured data in 3 flat tables + JSON storage</a:t>
            </a:r>
          </a:p>
          <a:p>
            <a:r>
              <a:t>✓ Natural language query interface</a:t>
            </a:r>
          </a:p>
          <a:p>
            <a:r>
              <a:t>✓ 61.5% overall accuracy (key fields 80%+)</a:t>
            </a:r>
          </a:p>
          <a:p/>
          <a:p>
            <a:r>
              <a:t>Technology Stack:</a:t>
            </a:r>
          </a:p>
          <a:p>
            <a:r>
              <a:t>Snowflake Cortex AI, Analyst, Agent, Intelligence</a:t>
            </a:r>
          </a:p>
          <a:p/>
          <a:p>
            <a:r>
              <a:t>Ready For:</a:t>
            </a:r>
          </a:p>
          <a:p>
            <a:r>
              <a:t>S3 integration with production documents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